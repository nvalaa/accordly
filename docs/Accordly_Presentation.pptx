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embeddedFontLst>
    <p:embeddedFont>
      <p:font typeface="Robo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2" roundtripDataSignature="AMtx7miQGEx7Obr0wySnopgl9t0byVcb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italic.fntdata"/><Relationship Id="rId11" Type="http://schemas.openxmlformats.org/officeDocument/2006/relationships/slide" Target="slides/slide7.xml"/><Relationship Id="rId22" Type="http://customschemas.google.com/relationships/presentationmetadata" Target="metadata"/><Relationship Id="rId10" Type="http://schemas.openxmlformats.org/officeDocument/2006/relationships/slide" Target="slides/slide6.xml"/><Relationship Id="rId21" Type="http://schemas.openxmlformats.org/officeDocument/2006/relationships/font" Target="fonts/Roboto-boldItalic.fnt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Roboto-bold.fntdata"/><Relationship Id="rId6" Type="http://schemas.openxmlformats.org/officeDocument/2006/relationships/slide" Target="slides/slide2.xml"/><Relationship Id="rId18" Type="http://schemas.openxmlformats.org/officeDocument/2006/relationships/font" Target="fonts/Roboto-regular.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HOOK (spoken only, before this slide appears, no visual, just talk to the room, then click through to reveal the title):</a:t>
            </a:r>
            <a:br>
              <a:rPr lang="en-US"/>
            </a:br>
            <a:r>
              <a:rPr lang="en-US"/>
              <a:t>"It's been 12 weeks. No day off. When I'm not here, I'm at the café, 20-plus hours a weekend, and I don't come out smelling like coffee and pastries, I come out smelling like milk and syrup, sticky, still. My only free time is a half-hour break, which I spend rabbit-holing on perfumes instead of actually buying one."</a:t>
            </a:r>
            <a:br>
              <a:rPr lang="en-US"/>
            </a:br>
            <a:r>
              <a:rPr lang="en-US"/>
              <a:t>Then click to reveal this title slide: "Accordly."</a:t>
            </a:r>
            <a:br>
              <a:rPr lang="en-US"/>
            </a:br>
            <a:r>
              <a:rPr lang="en-US"/>
              <a:t>(The Paper− story now opens the "why" section on the next slide, rather than living here.)</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last time I bought a fragrance off the back of notes and reviews alone, it was Commodity's Paper−. Marketed as a quiet, personal space scent. Instead it was so strong I felt like I was trying to physically outrun my own scent trail. I ended the night with a migraine I could not scrub off. Keep Paper− in mind, it comes back later.</a:t>
            </a:r>
            <a:br>
              <a:rPr lang="en-US"/>
            </a:br>
            <a:r>
              <a:rPr lang="en-US"/>
              <a:t>On paper, Paper− had everything right. Sandalwood, amber, cedarwood, notes I already knew I liked. It also used Iso E Super, which I hadn't tried, but the recommendation compared it to Ambroxan, which I do like, from Glossier's You. (cue: just say 'similar', don't name the molecule mismatch). Reasonable logic. Still failed badly.</a:t>
            </a:r>
            <a:br>
              <a:rPr lang="en-US"/>
            </a:br>
            <a:r>
              <a:rPr lang="en-US"/>
              <a:t>And because the tool was a black box, I couldn't see why. That's the actual embarrassment, not the migraine, the fact that I have enough knowledge to have caught this myself, if I'd been shown the reasoning instead of just the result.</a:t>
            </a:r>
            <a:br>
              <a:rPr lang="en-US"/>
            </a:br>
            <a:r>
              <a:rPr lang="en-US"/>
              <a:t>This isn't just bad luck. Rating-based recommenders optimise for what's popular, not what's actually similar in composition. And the tools that do compare composition, like Scent IQ or PERFUMIST, are still black boxes. Nothing lets someone with real domain knowledge check the machine's thinking against their own."</a:t>
            </a:r>
            <a:br>
              <a:rPr lang="en-US"/>
            </a:br>
            <a:r>
              <a:rPr lang="en-US"/>
              <a:t>(Deliberate foreshadowing, Paper− returns as the negative control in the evaluation beat during "how.")</a:t>
            </a:r>
            <a:endParaRPr/>
          </a:p>
        </p:txBody>
      </p:sp>
      <p:sp>
        <p:nvSpPr>
          <p:cNvPr id="25" name="Google Shape;25;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 did we actually build? At its core, this is a fragrance recommender that finds genuinely similar fragrances by composition, not by popularity."</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"It's transparent by design, every recommendation comes back with a breakdown of why it was suggested."</a:t>
            </a:r>
            <a:endParaRPr/>
          </a:p>
        </p:txBody>
      </p:sp>
      <p:sp>
        <p:nvSpPr>
          <p:cNvPr id="59" name="Google Shape;5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"And the query itself is combined, search from a fragrance already loved, from notes picked by hand, or both at once."</a:t>
            </a:r>
            <a:endParaRPr/>
          </a:p>
        </p:txBody>
      </p:sp>
      <p:sp>
        <p:nvSpPr>
          <p:cNvPr id="82" name="Google Shape;8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8931b1b28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g3f8931b1b28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"It's rarity-weighted, so a rare or distinctive note pulls more weight than a common note like musk, because a shared rare note is a stronger signal of true similarity."</a:t>
            </a:r>
            <a:endParaRPr/>
          </a:p>
        </p:txBody>
      </p:sp>
      <p:sp>
        <p:nvSpPr>
          <p:cNvPr id="102" name="Google Shape;102;g3f8931b1b28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fragrance becomes two fingerprints to the model: one from its notes, weighted so rare, distinctive notes count for more than common ones, and one from its accords, its broader scent families, weighted by strength. Those two fingerprints get blended evenly into a single similarity score. You can search from a fragrance you already like, from notes you pick yourself, or both at once, each one scored separately then combined."</a:t>
            </a:r>
            <a:endParaRPr/>
          </a:p>
        </p:txBody>
      </p:sp>
      <p:sp>
        <p:nvSpPr>
          <p:cNvPr id="113" name="Google Shape;1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Same Libre → Idôle pairing shown in the app's explainer page. This chart sets up the circularity argument in "limits": why alpha=0.5 was chosen deliberately, not tuned.</a:t>
            </a:r>
            <a:endParaRPr/>
          </a:p>
        </p:txBody>
      </p:sp>
      <p:sp>
        <p:nvSpPr>
          <p:cNvPr id="133" name="Google Shape;13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 name="Google Shape;14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there's no answer key for what smells similar. So we had to prove this actually works, ourselves."</a:t>
            </a:r>
            <a:br>
              <a:rPr lang="en-US"/>
            </a:br>
            <a:r>
              <a:rPr lang="en-US"/>
              <a:t>(PAUSE) "Remember Paper−?"</a:t>
            </a:r>
            <a:br>
              <a:rPr lang="en-US"/>
            </a:br>
            <a:r>
              <a:rPr lang="en-US"/>
              <a:t>"We fed it into the model as a negative control, a fragrance we knew shared nothing with what I actually like. And it never showed up in the recommendations. That's the model doing its job.</a:t>
            </a:r>
            <a:br>
              <a:rPr lang="en-US"/>
            </a:br>
            <a:r>
              <a:rPr lang="en-US"/>
              <a:t>And we didn't tune the blend against our own data to get that result, that would've been rigging the test. We chose it deliberately, and documented why, so this is a real check, not a designed-to-pass one."</a:t>
            </a:r>
            <a:endParaRPr/>
          </a:p>
        </p:txBody>
      </p:sp>
      <p:sp>
        <p:nvSpPr>
          <p:cNvPr id="144" name="Google Shape;14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DEMO. This entire section happens live in the app, this slide is just a placeholder / cue card, switch away from the deck now.</a:t>
            </a:r>
            <a:br>
              <a:rPr lang="en-US"/>
            </a:br>
            <a:r>
              <a:rPr lang="en-US"/>
              <a:t>ROUND 1, Libre alone: top result Léonie (Maison Alhambra, 0.788). Validate via domain knowledge (lavender/musk/vanilla overlap), then pivot: Maison Alhambra is a known clone house, most of the list is dupes, a high threshold alone just finds clones.</a:t>
            </a:r>
            <a:br>
              <a:rPr lang="en-US"/>
            </a:br>
            <a:r>
              <a:rPr lang="en-US"/>
              <a:t>ROUND 2, + ambrette (musk mallow): notes-similarity and perfumes-similarity visibly diverge on screen (0.707 vs 0.288, don't read these aloud), top result changes completely to Allegra Magnifying Musk Essence (Bvlgari).</a:t>
            </a:r>
            <a:br>
              <a:rPr lang="en-US"/>
            </a:br>
            <a:r>
              <a:rPr lang="en-US"/>
              <a:t>ROUND 3, + white woods: three results, deliberately nuanced, notes doing most of the work, a genuine discovery, and Léonie reappearing as fragrance-similarity reasserts itself. Land on: it's a balance, not a solved problem.</a:t>
            </a:r>
            <a:br>
              <a:rPr lang="en-US"/>
            </a:br>
            <a:r>
              <a:rPr lang="en-US"/>
              <a:t>EXPLAINER PAGE: brief walkthrough, shared notes, rarity weighting (musk 1.97 vs white woods 5.93), and the alpha-blend chart (0.72 → 0.43 → 0.67), which sets up the circularity argument in "limits" next.</a:t>
            </a:r>
            <a:endParaRPr/>
          </a:p>
        </p:txBody>
      </p:sp>
      <p:sp>
        <p:nvSpPr>
          <p:cNvPr id="159" name="Google Shape;15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section follows directly from the explainer page's alpha chart, so reference it first.</a:t>
            </a:r>
            <a:br>
              <a:rPr lang="en-US"/>
            </a:br>
            <a:r>
              <a:rPr lang="en-US"/>
              <a:t>"You just saw that chart, the combined score swinging from 0.43 to 0.72 depending on where the alpha slider sits. Which raises an obvious question: why 0.5? Why not tune it?</a:t>
            </a:r>
            <a:br>
              <a:rPr lang="en-US"/>
            </a:br>
            <a:r>
              <a:rPr lang="en-US"/>
              <a:t>Because if we picked alpha by testing which value best matched what we already think is similar, we'd just be using our own taste to prove the model agrees with our own taste. That's circular. The test would only ever confirm what we already believed going in.</a:t>
            </a:r>
            <a:br>
              <a:rPr lang="en-US"/>
            </a:br>
            <a:r>
              <a:rPr lang="en-US"/>
              <a:t>Same reason we didn't score this with something like precision at top-k. There's no independent right answer for what smells similar, without one, any metric like that just quietly re-encodes personal opinion as ground truth and calls it evaluation.</a:t>
            </a:r>
            <a:br>
              <a:rPr lang="en-US"/>
            </a:br>
            <a:r>
              <a:rPr lang="en-US"/>
              <a:t>And time itself was a limit. My original proposal wasn't this at all, it was a flavour trend predictor for café drinks. That got scrapped, and so did the time spent on it. Then finding the right dataset for this project also took longer than planned. Which is exactly what's next."</a:t>
            </a:r>
            <a:endParaRPr/>
          </a:p>
        </p:txBody>
      </p:sp>
      <p:sp>
        <p:nvSpPr>
          <p:cNvPr id="184" name="Google Shape;184;p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9" name="Google Shape;19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what's next. The bigger direction is collaborative filtering. The dataset this is built on actually has a lot we haven't touched yet, ratings, vote counts, have/want data. Right now, everything is based on composition, what a fragrance is made of. Collaborative filtering would recommend based on behaviour instead, what people with similar taste to you also liked. That's a genuinely different paradigm to everything we've built so far, and it's a natural next step.</a:t>
            </a:r>
            <a:br>
              <a:rPr lang="en-US"/>
            </a:br>
            <a:r>
              <a:rPr lang="en-US"/>
              <a:t>One more thought before I finish, that same rating data could also work the other way, not to generate recommendations, but to check them. If my top results for a fragrance also tend to share similar ratings or similar have/want patterns, that's another form of evidence the model's on the right track, alongside the checks we already built."</a:t>
            </a:r>
            <a:endParaRPr/>
          </a:p>
        </p:txBody>
      </p:sp>
      <p:sp>
        <p:nvSpPr>
          <p:cNvPr id="200" name="Google Shape;20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Buffer slide. If asked "what didn't work / what did you learn", return to the Limits slide verbally: the alpha circularity decision and the rejected precision@k metric are the strongest material for that question.</a:t>
            </a:r>
            <a:endParaRPr/>
          </a:p>
        </p:txBody>
      </p:sp>
      <p:sp>
        <p:nvSpPr>
          <p:cNvPr id="218" name="Google Shape;218;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729"/>
        </a:solidFill>
      </p:bgPr>
    </p:bg>
    <p:spTree>
      <p:nvGrpSpPr>
        <p:cNvPr id="15" name="Shape 15"/>
        <p:cNvGrpSpPr/>
        <p:nvPr/>
      </p:nvGrpSpPr>
      <p:grpSpPr>
        <a:xfrm>
          <a:off x="0" y="0"/>
          <a:ext cx="0" cy="0"/>
          <a:chOff x="0" y="0"/>
          <a:chExt cx="0" cy="0"/>
        </a:xfrm>
      </p:grpSpPr>
      <p:sp>
        <p:nvSpPr>
          <p:cNvPr id="16" name="Google Shape;16;p1"/>
          <p:cNvSpPr/>
          <p:nvPr/>
        </p:nvSpPr>
        <p:spPr>
          <a:xfrm>
            <a:off x="640080" y="2468880"/>
            <a:ext cx="1005840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6400"/>
              <a:buFont typeface="Roboto"/>
              <a:buNone/>
            </a:pPr>
            <a:r>
              <a:rPr b="1" i="0" lang="en-US" sz="6400" u="none" cap="none" strike="noStrike">
                <a:solidFill>
                  <a:srgbClr val="F6F7F8"/>
                </a:solidFill>
                <a:latin typeface="Roboto"/>
                <a:ea typeface="Roboto"/>
                <a:cs typeface="Roboto"/>
                <a:sym typeface="Roboto"/>
              </a:rPr>
              <a:t>ACCORDLY</a:t>
            </a:r>
            <a:endParaRPr b="0" i="0" sz="6400" u="none" cap="none" strike="noStrike">
              <a:solidFill>
                <a:schemeClr val="dk1"/>
              </a:solidFill>
              <a:latin typeface="Calibri"/>
              <a:ea typeface="Calibri"/>
              <a:cs typeface="Calibri"/>
              <a:sym typeface="Calibri"/>
            </a:endParaRPr>
          </a:p>
        </p:txBody>
      </p:sp>
      <p:sp>
        <p:nvSpPr>
          <p:cNvPr id="17" name="Google Shape;17;p1"/>
          <p:cNvSpPr/>
          <p:nvPr/>
        </p:nvSpPr>
        <p:spPr>
          <a:xfrm>
            <a:off x="640080" y="374904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800"/>
              <a:buFont typeface="Roboto"/>
              <a:buNone/>
            </a:pPr>
            <a:r>
              <a:rPr i="1" lang="en-US" sz="1800">
                <a:solidFill>
                  <a:srgbClr val="8A9A28"/>
                </a:solidFill>
                <a:latin typeface="Roboto"/>
                <a:ea typeface="Roboto"/>
                <a:cs typeface="Roboto"/>
                <a:sym typeface="Roboto"/>
              </a:rPr>
              <a:t>getting you that sweet reward of a sweet new perfume</a:t>
            </a:r>
            <a:endParaRPr b="0" i="0" sz="1800" u="none" cap="none" strike="noStrike">
              <a:solidFill>
                <a:schemeClr val="dk1"/>
              </a:solidFill>
              <a:latin typeface="Calibri"/>
              <a:ea typeface="Calibri"/>
              <a:cs typeface="Calibri"/>
              <a:sym typeface="Calibri"/>
            </a:endParaRPr>
          </a:p>
        </p:txBody>
      </p:sp>
      <p:sp>
        <p:nvSpPr>
          <p:cNvPr id="18" name="Google Shape;18;p1"/>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01</a:t>
            </a:r>
            <a:endParaRPr b="0" i="0" sz="1000" u="none" cap="none" strike="noStrike">
              <a:solidFill>
                <a:schemeClr val="dk1"/>
              </a:solidFill>
              <a:latin typeface="Calibri"/>
              <a:ea typeface="Calibri"/>
              <a:cs typeface="Calibri"/>
              <a:sym typeface="Calibri"/>
            </a:endParaRPr>
          </a:p>
        </p:txBody>
      </p:sp>
      <p:sp>
        <p:nvSpPr>
          <p:cNvPr id="19" name="Google Shape;19;p1"/>
          <p:cNvSpPr/>
          <p:nvPr/>
        </p:nvSpPr>
        <p:spPr>
          <a:xfrm>
            <a:off x="10179625" y="5598950"/>
            <a:ext cx="275600" cy="697700"/>
          </a:xfrm>
          <a:custGeom>
            <a:rect b="b" l="l" r="r" t="t"/>
            <a:pathLst>
              <a:path extrusionOk="0" h="27908" w="11024">
                <a:moveTo>
                  <a:pt x="0" y="11905"/>
                </a:moveTo>
                <a:cubicBezTo>
                  <a:pt x="2424" y="14935"/>
                  <a:pt x="4903" y="17936"/>
                  <a:pt x="7055" y="21165"/>
                </a:cubicBezTo>
                <a:cubicBezTo>
                  <a:pt x="8412" y="23201"/>
                  <a:pt x="11024" y="29784"/>
                  <a:pt x="11024" y="27338"/>
                </a:cubicBezTo>
                <a:cubicBezTo>
                  <a:pt x="11024" y="18150"/>
                  <a:pt x="7496" y="9188"/>
                  <a:pt x="7496" y="0"/>
                </a:cubicBezTo>
              </a:path>
            </a:pathLst>
          </a:custGeom>
          <a:noFill/>
          <a:ln cap="flat" cmpd="sng" w="38100">
            <a:solidFill>
              <a:srgbClr val="8A9A28"/>
            </a:solidFill>
            <a:prstDash val="solid"/>
            <a:round/>
            <a:headEnd len="med" w="med" type="none"/>
            <a:tailEnd len="med" w="med" type="none"/>
          </a:ln>
        </p:spPr>
      </p:sp>
      <p:sp>
        <p:nvSpPr>
          <p:cNvPr id="20" name="Google Shape;20;p1"/>
          <p:cNvSpPr/>
          <p:nvPr/>
        </p:nvSpPr>
        <p:spPr>
          <a:xfrm>
            <a:off x="10550378" y="5194664"/>
            <a:ext cx="566225" cy="867250"/>
          </a:xfrm>
          <a:custGeom>
            <a:rect b="b" l="l" r="r" t="t"/>
            <a:pathLst>
              <a:path extrusionOk="0" h="34690" w="22649">
                <a:moveTo>
                  <a:pt x="5454" y="24108"/>
                </a:moveTo>
                <a:cubicBezTo>
                  <a:pt x="5454" y="22631"/>
                  <a:pt x="1777" y="22384"/>
                  <a:pt x="1044" y="23667"/>
                </a:cubicBezTo>
                <a:cubicBezTo>
                  <a:pt x="-831" y="26948"/>
                  <a:pt x="-89" y="34690"/>
                  <a:pt x="3690" y="34690"/>
                </a:cubicBezTo>
                <a:cubicBezTo>
                  <a:pt x="7962" y="34690"/>
                  <a:pt x="1551" y="24924"/>
                  <a:pt x="4572" y="21903"/>
                </a:cubicBezTo>
                <a:cubicBezTo>
                  <a:pt x="6483" y="19992"/>
                  <a:pt x="8574" y="29710"/>
                  <a:pt x="10304" y="27635"/>
                </a:cubicBezTo>
                <a:cubicBezTo>
                  <a:pt x="14472" y="22636"/>
                  <a:pt x="12942" y="14728"/>
                  <a:pt x="12509" y="8234"/>
                </a:cubicBezTo>
                <a:cubicBezTo>
                  <a:pt x="12332" y="5578"/>
                  <a:pt x="14152" y="1139"/>
                  <a:pt x="11627" y="297"/>
                </a:cubicBezTo>
                <a:cubicBezTo>
                  <a:pt x="4488" y="-2083"/>
                  <a:pt x="9747" y="18979"/>
                  <a:pt x="16477" y="22344"/>
                </a:cubicBezTo>
                <a:cubicBezTo>
                  <a:pt x="20592" y="24402"/>
                  <a:pt x="21533" y="14462"/>
                  <a:pt x="22650" y="9998"/>
                </a:cubicBezTo>
              </a:path>
            </a:pathLst>
          </a:custGeom>
          <a:noFill/>
          <a:ln cap="flat" cmpd="sng" w="38100">
            <a:solidFill>
              <a:srgbClr val="8A9A28"/>
            </a:solidFill>
            <a:prstDash val="solid"/>
            <a:round/>
            <a:headEnd len="med" w="med" type="none"/>
            <a:tailEnd len="med" w="med" type="none"/>
          </a:ln>
        </p:spPr>
      </p:sp>
      <p:sp>
        <p:nvSpPr>
          <p:cNvPr id="21" name="Google Shape;21;p1"/>
          <p:cNvSpPr/>
          <p:nvPr/>
        </p:nvSpPr>
        <p:spPr>
          <a:xfrm>
            <a:off x="11119911" y="5164666"/>
            <a:ext cx="283325" cy="318775"/>
          </a:xfrm>
          <a:custGeom>
            <a:rect b="b" l="l" r="r" t="t"/>
            <a:pathLst>
              <a:path extrusionOk="0" h="12751" w="11333">
                <a:moveTo>
                  <a:pt x="6043" y="3702"/>
                </a:moveTo>
                <a:cubicBezTo>
                  <a:pt x="5346" y="2540"/>
                  <a:pt x="4609" y="9"/>
                  <a:pt x="3397" y="615"/>
                </a:cubicBezTo>
                <a:cubicBezTo>
                  <a:pt x="-175" y="2401"/>
                  <a:pt x="-1248" y="10306"/>
                  <a:pt x="2074" y="12521"/>
                </a:cubicBezTo>
                <a:cubicBezTo>
                  <a:pt x="2766" y="12982"/>
                  <a:pt x="3575" y="11546"/>
                  <a:pt x="3838" y="10757"/>
                </a:cubicBezTo>
                <a:cubicBezTo>
                  <a:pt x="4969" y="7364"/>
                  <a:pt x="3074" y="2704"/>
                  <a:pt x="5602" y="174"/>
                </a:cubicBezTo>
                <a:cubicBezTo>
                  <a:pt x="6299" y="-523"/>
                  <a:pt x="6685" y="1863"/>
                  <a:pt x="6924" y="2820"/>
                </a:cubicBezTo>
                <a:cubicBezTo>
                  <a:pt x="7355" y="4543"/>
                  <a:pt x="7873" y="8926"/>
                  <a:pt x="9129" y="7670"/>
                </a:cubicBezTo>
                <a:cubicBezTo>
                  <a:pt x="10600" y="6200"/>
                  <a:pt x="10232" y="5907"/>
                  <a:pt x="11334" y="4143"/>
                </a:cubicBezTo>
              </a:path>
            </a:pathLst>
          </a:custGeom>
          <a:noFill/>
          <a:ln cap="flat" cmpd="sng" w="38100">
            <a:solidFill>
              <a:srgbClr val="8A9A28"/>
            </a:solidFill>
            <a:prstDash val="solid"/>
            <a:round/>
            <a:headEnd len="med" w="med" type="none"/>
            <a:tailEnd len="med" w="med" type="none"/>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26" name="Shape 26"/>
        <p:cNvGrpSpPr/>
        <p:nvPr/>
      </p:nvGrpSpPr>
      <p:grpSpPr>
        <a:xfrm>
          <a:off x="0" y="0"/>
          <a:ext cx="0" cy="0"/>
          <a:chOff x="0" y="0"/>
          <a:chExt cx="0" cy="0"/>
        </a:xfrm>
      </p:grpSpPr>
      <p:sp>
        <p:nvSpPr>
          <p:cNvPr id="27" name="Google Shape;27;p2"/>
          <p:cNvSpPr/>
          <p:nvPr/>
        </p:nvSpPr>
        <p:spPr>
          <a:xfrm>
            <a:off x="640080" y="50292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WHY</a:t>
            </a:r>
            <a:endParaRPr b="0" i="0" sz="1300" u="none" cap="none" strike="noStrike">
              <a:solidFill>
                <a:schemeClr val="dk1"/>
              </a:solidFill>
              <a:latin typeface="Calibri"/>
              <a:ea typeface="Calibri"/>
              <a:cs typeface="Calibri"/>
              <a:sym typeface="Calibri"/>
            </a:endParaRPr>
          </a:p>
        </p:txBody>
      </p:sp>
      <p:sp>
        <p:nvSpPr>
          <p:cNvPr id="28" name="Google Shape;28;p2"/>
          <p:cNvSpPr/>
          <p:nvPr/>
        </p:nvSpPr>
        <p:spPr>
          <a:xfrm>
            <a:off x="640080" y="868680"/>
            <a:ext cx="9601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600"/>
              <a:buFont typeface="Roboto"/>
              <a:buNone/>
            </a:pPr>
            <a:r>
              <a:rPr b="1" lang="en-US" sz="2600">
                <a:solidFill>
                  <a:srgbClr val="2B3538"/>
                </a:solidFill>
                <a:latin typeface="Roboto"/>
                <a:ea typeface="Roboto"/>
                <a:cs typeface="Roboto"/>
                <a:sym typeface="Roboto"/>
              </a:rPr>
              <a:t>The Culprit: </a:t>
            </a:r>
            <a:r>
              <a:rPr b="1" lang="en-US" sz="2600">
                <a:solidFill>
                  <a:srgbClr val="2B3538"/>
                </a:solidFill>
                <a:latin typeface="Roboto"/>
                <a:ea typeface="Roboto"/>
                <a:cs typeface="Roboto"/>
                <a:sym typeface="Roboto"/>
              </a:rPr>
              <a:t>Commodity</a:t>
            </a:r>
            <a:r>
              <a:rPr b="1" lang="en-US" sz="2600">
                <a:solidFill>
                  <a:srgbClr val="2B3538"/>
                </a:solidFill>
                <a:latin typeface="Roboto"/>
                <a:ea typeface="Roboto"/>
                <a:cs typeface="Roboto"/>
                <a:sym typeface="Roboto"/>
              </a:rPr>
              <a:t> Paper-</a:t>
            </a:r>
            <a:endParaRPr b="0" i="0" sz="2600" u="none" cap="none" strike="noStrike">
              <a:solidFill>
                <a:schemeClr val="dk1"/>
              </a:solidFill>
              <a:latin typeface="Calibri"/>
              <a:ea typeface="Calibri"/>
              <a:cs typeface="Calibri"/>
              <a:sym typeface="Calibri"/>
            </a:endParaRPr>
          </a:p>
        </p:txBody>
      </p:sp>
      <p:sp>
        <p:nvSpPr>
          <p:cNvPr id="29" name="Google Shape;29;p2"/>
          <p:cNvSpPr/>
          <p:nvPr/>
        </p:nvSpPr>
        <p:spPr>
          <a:xfrm>
            <a:off x="640080" y="1508760"/>
            <a:ext cx="10332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i="1" lang="en-US" sz="1300">
                <a:solidFill>
                  <a:srgbClr val="44555A"/>
                </a:solidFill>
                <a:latin typeface="Roboto"/>
                <a:ea typeface="Roboto"/>
                <a:cs typeface="Roboto"/>
                <a:sym typeface="Roboto"/>
              </a:rPr>
              <a:t>Sold as a “personal” and “skin-close” scent just for me</a:t>
            </a:r>
            <a:endParaRPr i="1" sz="1300">
              <a:solidFill>
                <a:srgbClr val="44555A"/>
              </a:solidFill>
              <a:latin typeface="Roboto"/>
              <a:ea typeface="Roboto"/>
              <a:cs typeface="Roboto"/>
              <a:sym typeface="Roboto"/>
            </a:endParaRPr>
          </a:p>
          <a:p>
            <a:pPr indent="0" lvl="0" marL="0" marR="0" rtl="0" algn="l">
              <a:spcBef>
                <a:spcPts val="0"/>
              </a:spcBef>
              <a:spcAft>
                <a:spcPts val="0"/>
              </a:spcAft>
              <a:buClr>
                <a:srgbClr val="44555A"/>
              </a:buClr>
              <a:buSzPts val="1300"/>
              <a:buFont typeface="Roboto"/>
              <a:buNone/>
            </a:pPr>
            <a:r>
              <a:rPr i="1" lang="en-US" sz="1300">
                <a:solidFill>
                  <a:srgbClr val="44555A"/>
                </a:solidFill>
                <a:latin typeface="Roboto"/>
                <a:ea typeface="Roboto"/>
                <a:cs typeface="Roboto"/>
                <a:sym typeface="Roboto"/>
              </a:rPr>
              <a:t>Instead, it was</a:t>
            </a:r>
            <a:r>
              <a:rPr b="0" i="1" lang="en-US" sz="1300" u="none" cap="none" strike="noStrike">
                <a:solidFill>
                  <a:srgbClr val="44555A"/>
                </a:solidFill>
                <a:latin typeface="Roboto"/>
                <a:ea typeface="Roboto"/>
                <a:cs typeface="Roboto"/>
                <a:sym typeface="Roboto"/>
              </a:rPr>
              <a:t> so strong </a:t>
            </a:r>
            <a:r>
              <a:rPr i="1" lang="en-US" sz="1300">
                <a:solidFill>
                  <a:srgbClr val="44555A"/>
                </a:solidFill>
                <a:latin typeface="Roboto"/>
                <a:ea typeface="Roboto"/>
                <a:cs typeface="Roboto"/>
                <a:sym typeface="Roboto"/>
              </a:rPr>
              <a:t>I was trying to run away from myself and </a:t>
            </a:r>
            <a:r>
              <a:rPr b="0" i="1" lang="en-US" sz="1300" u="none" cap="none" strike="noStrike">
                <a:solidFill>
                  <a:srgbClr val="44555A"/>
                </a:solidFill>
                <a:latin typeface="Roboto"/>
                <a:ea typeface="Roboto"/>
                <a:cs typeface="Roboto"/>
                <a:sym typeface="Roboto"/>
              </a:rPr>
              <a:t>ended up with a migraine </a:t>
            </a:r>
            <a:r>
              <a:rPr i="1" lang="en-US" sz="1300">
                <a:solidFill>
                  <a:srgbClr val="44555A"/>
                </a:solidFill>
                <a:latin typeface="Roboto"/>
                <a:ea typeface="Roboto"/>
                <a:cs typeface="Roboto"/>
                <a:sym typeface="Roboto"/>
              </a:rPr>
              <a:t>I c</a:t>
            </a:r>
            <a:r>
              <a:rPr b="0" i="1" lang="en-US" sz="1300" u="none" cap="none" strike="noStrike">
                <a:solidFill>
                  <a:srgbClr val="44555A"/>
                </a:solidFill>
                <a:latin typeface="Roboto"/>
                <a:ea typeface="Roboto"/>
                <a:cs typeface="Roboto"/>
                <a:sym typeface="Roboto"/>
              </a:rPr>
              <a:t>ouldn't scrub off</a:t>
            </a:r>
            <a:r>
              <a:rPr i="1" lang="en-US" sz="1300">
                <a:solidFill>
                  <a:srgbClr val="44555A"/>
                </a:solidFill>
                <a:latin typeface="Roboto"/>
                <a:ea typeface="Roboto"/>
                <a:cs typeface="Roboto"/>
                <a:sym typeface="Roboto"/>
              </a:rPr>
              <a:t> :(</a:t>
            </a:r>
            <a:endParaRPr b="0" i="0" sz="1300" u="none" cap="none" strike="noStrike">
              <a:solidFill>
                <a:schemeClr val="dk1"/>
              </a:solidFill>
              <a:latin typeface="Calibri"/>
              <a:ea typeface="Calibri"/>
              <a:cs typeface="Calibri"/>
              <a:sym typeface="Calibri"/>
            </a:endParaRPr>
          </a:p>
        </p:txBody>
      </p:sp>
      <p:sp>
        <p:nvSpPr>
          <p:cNvPr id="30" name="Google Shape;30;p2"/>
          <p:cNvSpPr/>
          <p:nvPr/>
        </p:nvSpPr>
        <p:spPr>
          <a:xfrm>
            <a:off x="640080" y="2331720"/>
            <a:ext cx="5120700" cy="3520500"/>
          </a:xfrm>
          <a:prstGeom prst="roundRect">
            <a:avLst>
              <a:gd fmla="val 2078" name="adj"/>
            </a:avLst>
          </a:prstGeom>
          <a:solidFill>
            <a:srgbClr val="E0E4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914400" y="26060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on paper, it looked right</a:t>
            </a:r>
            <a:endParaRPr b="0" i="0" sz="1600" u="none" cap="none" strike="noStrike">
              <a:solidFill>
                <a:schemeClr val="dk1"/>
              </a:solidFill>
              <a:latin typeface="Calibri"/>
              <a:ea typeface="Calibri"/>
              <a:cs typeface="Calibri"/>
              <a:sym typeface="Calibri"/>
            </a:endParaRPr>
          </a:p>
        </p:txBody>
      </p:sp>
      <p:sp>
        <p:nvSpPr>
          <p:cNvPr id="32" name="Google Shape;32;p2"/>
          <p:cNvSpPr/>
          <p:nvPr/>
        </p:nvSpPr>
        <p:spPr>
          <a:xfrm>
            <a:off x="914400" y="3154680"/>
            <a:ext cx="4572000" cy="777300"/>
          </a:xfrm>
          <a:prstGeom prst="rect">
            <a:avLst/>
          </a:prstGeom>
          <a:solidFill>
            <a:srgbClr val="000000">
              <a:alpha val="0"/>
            </a:srgbClr>
          </a:solidFill>
          <a:ln>
            <a:noFill/>
          </a:ln>
        </p:spPr>
        <p:txBody>
          <a:bodyPr anchorCtr="0" anchor="ctr" bIns="0" lIns="0" spcFirstLastPara="1" rIns="0" wrap="square" tIns="0">
            <a:noAutofit/>
          </a:bodyPr>
          <a:lstStyle/>
          <a:p>
            <a:pPr indent="-311150" lvl="0" marL="457200" rtl="0" algn="l">
              <a:spcBef>
                <a:spcPts val="0"/>
              </a:spcBef>
              <a:spcAft>
                <a:spcPts val="0"/>
              </a:spcAft>
              <a:buClr>
                <a:srgbClr val="44555A"/>
              </a:buClr>
              <a:buSzPts val="1300"/>
              <a:buFont typeface="Roboto"/>
              <a:buChar char="★"/>
            </a:pPr>
            <a:r>
              <a:rPr b="0" lang="en-US" sz="1300">
                <a:solidFill>
                  <a:srgbClr val="44555A"/>
                </a:solidFill>
                <a:latin typeface="Roboto"/>
                <a:ea typeface="Roboto"/>
                <a:cs typeface="Roboto"/>
                <a:sym typeface="Roboto"/>
              </a:rPr>
              <a:t>sandalwood, amber, cedarwood</a:t>
            </a:r>
            <a:endParaRPr sz="1300">
              <a:solidFill>
                <a:srgbClr val="44555A"/>
              </a:solidFill>
              <a:latin typeface="Roboto"/>
              <a:ea typeface="Roboto"/>
              <a:cs typeface="Roboto"/>
              <a:sym typeface="Roboto"/>
            </a:endParaRPr>
          </a:p>
          <a:p>
            <a:pPr indent="-317500" lvl="1" marL="914400" rtl="0" algn="l">
              <a:spcBef>
                <a:spcPts val="0"/>
              </a:spcBef>
              <a:spcAft>
                <a:spcPts val="0"/>
              </a:spcAft>
              <a:buSzPts val="1400"/>
              <a:buChar char="☆"/>
            </a:pPr>
            <a:r>
              <a:rPr b="0" lang="en-US" sz="1300">
                <a:solidFill>
                  <a:srgbClr val="44555A"/>
                </a:solidFill>
                <a:latin typeface="Roboto"/>
                <a:ea typeface="Roboto"/>
                <a:cs typeface="Roboto"/>
                <a:sym typeface="Roboto"/>
              </a:rPr>
              <a:t>notes I already kn</a:t>
            </a:r>
            <a:r>
              <a:rPr lang="en-US" sz="1300">
                <a:solidFill>
                  <a:srgbClr val="44555A"/>
                </a:solidFill>
                <a:latin typeface="Roboto"/>
                <a:ea typeface="Roboto"/>
                <a:cs typeface="Roboto"/>
                <a:sym typeface="Roboto"/>
              </a:rPr>
              <a:t>o</a:t>
            </a:r>
            <a:r>
              <a:rPr b="0" lang="en-US" sz="1300">
                <a:solidFill>
                  <a:srgbClr val="44555A"/>
                </a:solidFill>
                <a:latin typeface="Roboto"/>
                <a:ea typeface="Roboto"/>
                <a:cs typeface="Roboto"/>
                <a:sym typeface="Roboto"/>
              </a:rPr>
              <a:t>w I like</a:t>
            </a:r>
            <a:endParaRPr b="0" sz="1300">
              <a:solidFill>
                <a:srgbClr val="44555A"/>
              </a:solidFill>
              <a:latin typeface="Roboto"/>
              <a:ea typeface="Roboto"/>
              <a:cs typeface="Roboto"/>
              <a:sym typeface="Roboto"/>
            </a:endParaRPr>
          </a:p>
        </p:txBody>
      </p:sp>
      <p:sp>
        <p:nvSpPr>
          <p:cNvPr id="33" name="Google Shape;33;p2"/>
          <p:cNvSpPr/>
          <p:nvPr/>
        </p:nvSpPr>
        <p:spPr>
          <a:xfrm>
            <a:off x="914400" y="4023360"/>
            <a:ext cx="4572000" cy="777300"/>
          </a:xfrm>
          <a:prstGeom prst="rect">
            <a:avLst/>
          </a:prstGeom>
          <a:solidFill>
            <a:srgbClr val="000000">
              <a:alpha val="0"/>
            </a:srgbClr>
          </a:solidFill>
          <a:ln>
            <a:noFill/>
          </a:ln>
        </p:spPr>
        <p:txBody>
          <a:bodyPr anchorCtr="0" anchor="ctr" bIns="0" lIns="0" spcFirstLastPara="1" rIns="0" wrap="square" tIns="0">
            <a:noAutofit/>
          </a:bodyPr>
          <a:lstStyle/>
          <a:p>
            <a:pPr indent="-311150" lvl="0" marL="457200" rtl="0" algn="l">
              <a:spcBef>
                <a:spcPts val="0"/>
              </a:spcBef>
              <a:spcAft>
                <a:spcPts val="0"/>
              </a:spcAft>
              <a:buClr>
                <a:srgbClr val="44555A"/>
              </a:buClr>
              <a:buSzPts val="1300"/>
              <a:buFont typeface="Roboto"/>
              <a:buChar char="★"/>
            </a:pPr>
            <a:r>
              <a:rPr b="0" lang="en-US" sz="1300">
                <a:solidFill>
                  <a:srgbClr val="44555A"/>
                </a:solidFill>
                <a:latin typeface="Roboto"/>
                <a:ea typeface="Roboto"/>
                <a:cs typeface="Roboto"/>
                <a:sym typeface="Roboto"/>
              </a:rPr>
              <a:t>Iso E Super</a:t>
            </a:r>
            <a:endParaRPr sz="1300">
              <a:solidFill>
                <a:srgbClr val="44555A"/>
              </a:solidFill>
              <a:latin typeface="Roboto"/>
              <a:ea typeface="Roboto"/>
              <a:cs typeface="Roboto"/>
              <a:sym typeface="Roboto"/>
            </a:endParaRPr>
          </a:p>
          <a:p>
            <a:pPr indent="-317500" lvl="1" marL="914400" rtl="0" algn="l">
              <a:spcBef>
                <a:spcPts val="0"/>
              </a:spcBef>
              <a:spcAft>
                <a:spcPts val="0"/>
              </a:spcAft>
              <a:buSzPts val="1400"/>
              <a:buChar char="☆"/>
            </a:pPr>
            <a:r>
              <a:rPr lang="en-US" sz="1300">
                <a:solidFill>
                  <a:srgbClr val="44555A"/>
                </a:solidFill>
                <a:latin typeface="Roboto"/>
                <a:ea typeface="Roboto"/>
                <a:cs typeface="Roboto"/>
                <a:sym typeface="Roboto"/>
              </a:rPr>
              <a:t>wrongly compared to </a:t>
            </a:r>
            <a:r>
              <a:rPr b="0" lang="en-US" sz="1300">
                <a:solidFill>
                  <a:srgbClr val="44555A"/>
                </a:solidFill>
                <a:latin typeface="Roboto"/>
                <a:ea typeface="Roboto"/>
                <a:cs typeface="Roboto"/>
                <a:sym typeface="Roboto"/>
              </a:rPr>
              <a:t>Ambroxan</a:t>
            </a:r>
            <a:endParaRPr b="0" sz="1300">
              <a:solidFill>
                <a:srgbClr val="44555A"/>
              </a:solidFill>
              <a:latin typeface="Roboto"/>
              <a:ea typeface="Roboto"/>
              <a:cs typeface="Roboto"/>
              <a:sym typeface="Roboto"/>
            </a:endParaRPr>
          </a:p>
        </p:txBody>
      </p:sp>
      <p:sp>
        <p:nvSpPr>
          <p:cNvPr id="34" name="Google Shape;34;p2"/>
          <p:cNvSpPr/>
          <p:nvPr/>
        </p:nvSpPr>
        <p:spPr>
          <a:xfrm>
            <a:off x="914400" y="4892040"/>
            <a:ext cx="4572000" cy="777300"/>
          </a:xfrm>
          <a:prstGeom prst="rect">
            <a:avLst/>
          </a:prstGeom>
          <a:solidFill>
            <a:srgbClr val="000000">
              <a:alpha val="0"/>
            </a:srgbClr>
          </a:solidFill>
          <a:ln>
            <a:noFill/>
          </a:ln>
        </p:spPr>
        <p:txBody>
          <a:bodyPr anchorCtr="0" anchor="ctr" bIns="0" lIns="0" spcFirstLastPara="1" rIns="0" wrap="square" tIns="0">
            <a:noAutofit/>
          </a:bodyPr>
          <a:lstStyle/>
          <a:p>
            <a:pPr indent="-311150" lvl="0" marL="457200" rtl="0" algn="l">
              <a:spcBef>
                <a:spcPts val="0"/>
              </a:spcBef>
              <a:spcAft>
                <a:spcPts val="0"/>
              </a:spcAft>
              <a:buClr>
                <a:srgbClr val="44555A"/>
              </a:buClr>
              <a:buSzPts val="1300"/>
              <a:buFont typeface="Roboto"/>
              <a:buChar char="★"/>
            </a:pPr>
            <a:r>
              <a:rPr lang="en-US" sz="1300">
                <a:solidFill>
                  <a:srgbClr val="44555A"/>
                </a:solidFill>
                <a:latin typeface="Roboto"/>
                <a:ea typeface="Roboto"/>
                <a:cs typeface="Roboto"/>
                <a:sym typeface="Roboto"/>
              </a:rPr>
              <a:t>the logic was there</a:t>
            </a:r>
            <a:endParaRPr sz="1300">
              <a:solidFill>
                <a:srgbClr val="44555A"/>
              </a:solidFill>
              <a:latin typeface="Roboto"/>
              <a:ea typeface="Roboto"/>
              <a:cs typeface="Roboto"/>
              <a:sym typeface="Roboto"/>
            </a:endParaRPr>
          </a:p>
          <a:p>
            <a:pPr indent="-311150" lvl="1" marL="914400" rtl="0" algn="l">
              <a:spcBef>
                <a:spcPts val="0"/>
              </a:spcBef>
              <a:spcAft>
                <a:spcPts val="0"/>
              </a:spcAft>
              <a:buClr>
                <a:srgbClr val="44555A"/>
              </a:buClr>
              <a:buSzPts val="1300"/>
              <a:buFont typeface="Roboto"/>
              <a:buChar char="☆"/>
            </a:pPr>
            <a:r>
              <a:rPr lang="en-US" sz="1300">
                <a:solidFill>
                  <a:srgbClr val="44555A"/>
                </a:solidFill>
                <a:latin typeface="Roboto"/>
                <a:ea typeface="Roboto"/>
                <a:cs typeface="Roboto"/>
                <a:sym typeface="Roboto"/>
              </a:rPr>
              <a:t>but it still failed!</a:t>
            </a:r>
            <a:endParaRPr sz="1300">
              <a:solidFill>
                <a:srgbClr val="44555A"/>
              </a:solidFill>
              <a:latin typeface="Roboto"/>
              <a:ea typeface="Roboto"/>
              <a:cs typeface="Roboto"/>
              <a:sym typeface="Roboto"/>
            </a:endParaRPr>
          </a:p>
        </p:txBody>
      </p:sp>
      <p:sp>
        <p:nvSpPr>
          <p:cNvPr id="35" name="Google Shape;35;p2"/>
          <p:cNvSpPr/>
          <p:nvPr/>
        </p:nvSpPr>
        <p:spPr>
          <a:xfrm>
            <a:off x="6126480" y="2331720"/>
            <a:ext cx="5120700" cy="3520500"/>
          </a:xfrm>
          <a:prstGeom prst="roundRect">
            <a:avLst>
              <a:gd fmla="val 2078" name="adj"/>
            </a:avLst>
          </a:prstGeom>
          <a:solidFill>
            <a:srgbClr val="1F2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6400800" y="260604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600"/>
              <a:buFont typeface="Roboto"/>
              <a:buNone/>
            </a:pPr>
            <a:r>
              <a:rPr b="1" i="0" lang="en-US" sz="1600" u="none" cap="none" strike="noStrike">
                <a:solidFill>
                  <a:srgbClr val="F6F7F8"/>
                </a:solidFill>
                <a:latin typeface="Roboto"/>
                <a:ea typeface="Roboto"/>
                <a:cs typeface="Roboto"/>
                <a:sym typeface="Roboto"/>
              </a:rPr>
              <a:t>this </a:t>
            </a:r>
            <a:r>
              <a:rPr b="1" lang="en-US" sz="1600">
                <a:solidFill>
                  <a:srgbClr val="F6F7F8"/>
                </a:solidFill>
                <a:latin typeface="Roboto"/>
                <a:ea typeface="Roboto"/>
                <a:cs typeface="Roboto"/>
                <a:sym typeface="Roboto"/>
              </a:rPr>
              <a:t>isn’t just a one-off</a:t>
            </a:r>
            <a:endParaRPr b="0" i="0" sz="1600" u="none" cap="none" strike="noStrike">
              <a:solidFill>
                <a:schemeClr val="dk1"/>
              </a:solidFill>
              <a:latin typeface="Calibri"/>
              <a:ea typeface="Calibri"/>
              <a:cs typeface="Calibri"/>
              <a:sym typeface="Calibri"/>
            </a:endParaRPr>
          </a:p>
        </p:txBody>
      </p:sp>
      <p:sp>
        <p:nvSpPr>
          <p:cNvPr id="37" name="Google Shape;37;p2"/>
          <p:cNvSpPr/>
          <p:nvPr/>
        </p:nvSpPr>
        <p:spPr>
          <a:xfrm>
            <a:off x="6400800" y="3154680"/>
            <a:ext cx="4572000" cy="777300"/>
          </a:xfrm>
          <a:prstGeom prst="rect">
            <a:avLst/>
          </a:prstGeom>
          <a:solidFill>
            <a:srgbClr val="000000">
              <a:alpha val="0"/>
            </a:srgbClr>
          </a:solidFill>
          <a:ln>
            <a:noFill/>
          </a:ln>
        </p:spPr>
        <p:txBody>
          <a:bodyPr anchorCtr="0" anchor="ctr" bIns="0" lIns="0" spcFirstLastPara="1" rIns="0" wrap="square" tIns="0">
            <a:noAutofit/>
          </a:bodyPr>
          <a:lstStyle/>
          <a:p>
            <a:pPr indent="-311150" lvl="0" marL="457200" rtl="0" algn="l">
              <a:spcBef>
                <a:spcPts val="0"/>
              </a:spcBef>
              <a:spcAft>
                <a:spcPts val="0"/>
              </a:spcAft>
              <a:buClr>
                <a:srgbClr val="E0E4E7"/>
              </a:buClr>
              <a:buSzPts val="1300"/>
              <a:buFont typeface="Roboto"/>
              <a:buChar char="★"/>
            </a:pPr>
            <a:r>
              <a:rPr b="0" lang="en-US" sz="1300">
                <a:solidFill>
                  <a:srgbClr val="E0E4E7"/>
                </a:solidFill>
                <a:latin typeface="Roboto"/>
                <a:ea typeface="Roboto"/>
                <a:cs typeface="Roboto"/>
                <a:sym typeface="Roboto"/>
              </a:rPr>
              <a:t>rating-based tools </a:t>
            </a:r>
            <a:r>
              <a:rPr lang="en-US" sz="1300">
                <a:solidFill>
                  <a:srgbClr val="E0E4E7"/>
                </a:solidFill>
                <a:latin typeface="Roboto"/>
                <a:ea typeface="Roboto"/>
                <a:cs typeface="Roboto"/>
                <a:sym typeface="Roboto"/>
              </a:rPr>
              <a:t>prioritise </a:t>
            </a:r>
            <a:r>
              <a:rPr b="0" lang="en-US" sz="1300">
                <a:solidFill>
                  <a:srgbClr val="E0E4E7"/>
                </a:solidFill>
                <a:latin typeface="Roboto"/>
                <a:ea typeface="Roboto"/>
                <a:cs typeface="Roboto"/>
                <a:sym typeface="Roboto"/>
              </a:rPr>
              <a:t>popularity</a:t>
            </a:r>
            <a:endParaRPr sz="1300">
              <a:solidFill>
                <a:srgbClr val="E0E4E7"/>
              </a:solidFill>
              <a:latin typeface="Roboto"/>
              <a:ea typeface="Roboto"/>
              <a:cs typeface="Roboto"/>
              <a:sym typeface="Roboto"/>
            </a:endParaRPr>
          </a:p>
          <a:p>
            <a:pPr indent="-317500" lvl="1" marL="914400" rtl="0" algn="l">
              <a:spcBef>
                <a:spcPts val="0"/>
              </a:spcBef>
              <a:spcAft>
                <a:spcPts val="0"/>
              </a:spcAft>
              <a:buClr>
                <a:schemeClr val="lt2"/>
              </a:buClr>
              <a:buSzPts val="1400"/>
              <a:buChar char="☆"/>
            </a:pPr>
            <a:r>
              <a:rPr b="0" lang="en-US" sz="1300">
                <a:solidFill>
                  <a:srgbClr val="E0E4E7"/>
                </a:solidFill>
                <a:latin typeface="Roboto"/>
                <a:ea typeface="Roboto"/>
                <a:cs typeface="Roboto"/>
                <a:sym typeface="Roboto"/>
              </a:rPr>
              <a:t>not composition</a:t>
            </a:r>
            <a:endParaRPr b="0" sz="1300">
              <a:solidFill>
                <a:srgbClr val="E0E4E7"/>
              </a:solidFill>
              <a:latin typeface="Roboto"/>
              <a:ea typeface="Roboto"/>
              <a:cs typeface="Roboto"/>
              <a:sym typeface="Roboto"/>
            </a:endParaRPr>
          </a:p>
        </p:txBody>
      </p:sp>
      <p:sp>
        <p:nvSpPr>
          <p:cNvPr id="38" name="Google Shape;38;p2"/>
          <p:cNvSpPr/>
          <p:nvPr/>
        </p:nvSpPr>
        <p:spPr>
          <a:xfrm>
            <a:off x="6400800" y="4023360"/>
            <a:ext cx="4572000" cy="777300"/>
          </a:xfrm>
          <a:prstGeom prst="rect">
            <a:avLst/>
          </a:prstGeom>
          <a:solidFill>
            <a:srgbClr val="000000">
              <a:alpha val="0"/>
            </a:srgbClr>
          </a:solidFill>
          <a:ln>
            <a:noFill/>
          </a:ln>
        </p:spPr>
        <p:txBody>
          <a:bodyPr anchorCtr="0" anchor="ctr" bIns="0" lIns="0" spcFirstLastPara="1" rIns="0" wrap="square" tIns="0">
            <a:noAutofit/>
          </a:bodyPr>
          <a:lstStyle/>
          <a:p>
            <a:pPr indent="-311150" lvl="0" marL="457200" rtl="0" algn="l">
              <a:spcBef>
                <a:spcPts val="0"/>
              </a:spcBef>
              <a:spcAft>
                <a:spcPts val="0"/>
              </a:spcAft>
              <a:buClr>
                <a:srgbClr val="E0E4E7"/>
              </a:buClr>
              <a:buSzPts val="1300"/>
              <a:buFont typeface="Roboto"/>
              <a:buChar char="★"/>
            </a:pPr>
            <a:r>
              <a:rPr b="0" lang="en-US" sz="1300">
                <a:solidFill>
                  <a:srgbClr val="E0E4E7"/>
                </a:solidFill>
                <a:latin typeface="Roboto"/>
                <a:ea typeface="Roboto"/>
                <a:cs typeface="Roboto"/>
                <a:sym typeface="Roboto"/>
              </a:rPr>
              <a:t>composition tools (Scent IQ, PERFUMIST) do exist</a:t>
            </a:r>
            <a:endParaRPr sz="1300">
              <a:solidFill>
                <a:srgbClr val="E0E4E7"/>
              </a:solidFill>
              <a:latin typeface="Roboto"/>
              <a:ea typeface="Roboto"/>
              <a:cs typeface="Roboto"/>
              <a:sym typeface="Roboto"/>
            </a:endParaRPr>
          </a:p>
          <a:p>
            <a:pPr indent="-317500" lvl="1" marL="914400" rtl="0" algn="l">
              <a:spcBef>
                <a:spcPts val="0"/>
              </a:spcBef>
              <a:spcAft>
                <a:spcPts val="0"/>
              </a:spcAft>
              <a:buClr>
                <a:srgbClr val="E0E4E7"/>
              </a:buClr>
              <a:buSzPts val="1400"/>
              <a:buChar char="☆"/>
            </a:pPr>
            <a:r>
              <a:rPr b="0" lang="en-US" sz="1300">
                <a:solidFill>
                  <a:srgbClr val="E0E4E7"/>
                </a:solidFill>
                <a:latin typeface="Roboto"/>
                <a:ea typeface="Roboto"/>
                <a:cs typeface="Roboto"/>
                <a:sym typeface="Roboto"/>
              </a:rPr>
              <a:t>but </a:t>
            </a:r>
            <a:r>
              <a:rPr lang="en-US" sz="1300">
                <a:solidFill>
                  <a:srgbClr val="E0E4E7"/>
                </a:solidFill>
                <a:latin typeface="Roboto"/>
                <a:ea typeface="Roboto"/>
                <a:cs typeface="Roboto"/>
                <a:sym typeface="Roboto"/>
              </a:rPr>
              <a:t>they’re </a:t>
            </a:r>
            <a:r>
              <a:rPr b="0" lang="en-US" sz="1300">
                <a:solidFill>
                  <a:srgbClr val="E0E4E7"/>
                </a:solidFill>
                <a:latin typeface="Roboto"/>
                <a:ea typeface="Roboto"/>
                <a:cs typeface="Roboto"/>
                <a:sym typeface="Roboto"/>
              </a:rPr>
              <a:t>still </a:t>
            </a:r>
            <a:r>
              <a:rPr lang="en-US" sz="1300">
                <a:solidFill>
                  <a:srgbClr val="E0E4E7"/>
                </a:solidFill>
                <a:latin typeface="Roboto"/>
                <a:ea typeface="Roboto"/>
                <a:cs typeface="Roboto"/>
                <a:sym typeface="Roboto"/>
              </a:rPr>
              <a:t>“</a:t>
            </a:r>
            <a:r>
              <a:rPr b="0" lang="en-US" sz="1300">
                <a:solidFill>
                  <a:srgbClr val="E0E4E7"/>
                </a:solidFill>
                <a:latin typeface="Roboto"/>
                <a:ea typeface="Roboto"/>
                <a:cs typeface="Roboto"/>
                <a:sym typeface="Roboto"/>
              </a:rPr>
              <a:t>black boxes</a:t>
            </a:r>
            <a:r>
              <a:rPr lang="en-US" sz="1300">
                <a:solidFill>
                  <a:srgbClr val="E0E4E7"/>
                </a:solidFill>
                <a:latin typeface="Roboto"/>
                <a:ea typeface="Roboto"/>
                <a:cs typeface="Roboto"/>
                <a:sym typeface="Roboto"/>
              </a:rPr>
              <a:t>”</a:t>
            </a:r>
            <a:endParaRPr b="0" sz="1300">
              <a:solidFill>
                <a:srgbClr val="E0E4E7"/>
              </a:solidFill>
              <a:latin typeface="Roboto"/>
              <a:ea typeface="Roboto"/>
              <a:cs typeface="Roboto"/>
              <a:sym typeface="Roboto"/>
            </a:endParaRPr>
          </a:p>
        </p:txBody>
      </p:sp>
      <p:sp>
        <p:nvSpPr>
          <p:cNvPr id="39" name="Google Shape;39;p2"/>
          <p:cNvSpPr/>
          <p:nvPr/>
        </p:nvSpPr>
        <p:spPr>
          <a:xfrm>
            <a:off x="6400800" y="4892040"/>
            <a:ext cx="4572000" cy="777300"/>
          </a:xfrm>
          <a:prstGeom prst="rect">
            <a:avLst/>
          </a:prstGeom>
          <a:solidFill>
            <a:srgbClr val="000000">
              <a:alpha val="0"/>
            </a:srgbClr>
          </a:solidFill>
          <a:ln>
            <a:noFill/>
          </a:ln>
        </p:spPr>
        <p:txBody>
          <a:bodyPr anchorCtr="0" anchor="ctr" bIns="0" lIns="0" spcFirstLastPara="1" rIns="0" wrap="square" tIns="0">
            <a:noAutofit/>
          </a:bodyPr>
          <a:lstStyle/>
          <a:p>
            <a:pPr indent="-311150" lvl="0" marL="457200" rtl="0" algn="l">
              <a:spcBef>
                <a:spcPts val="0"/>
              </a:spcBef>
              <a:spcAft>
                <a:spcPts val="0"/>
              </a:spcAft>
              <a:buClr>
                <a:srgbClr val="E0E4E7"/>
              </a:buClr>
              <a:buSzPts val="1300"/>
              <a:buFont typeface="Roboto"/>
              <a:buChar char="★"/>
            </a:pPr>
            <a:r>
              <a:rPr b="0" lang="en-US" sz="1300">
                <a:solidFill>
                  <a:srgbClr val="E0E4E7"/>
                </a:solidFill>
                <a:latin typeface="Roboto"/>
                <a:ea typeface="Roboto"/>
                <a:cs typeface="Roboto"/>
                <a:sym typeface="Roboto"/>
              </a:rPr>
              <a:t>nothing</a:t>
            </a:r>
            <a:r>
              <a:rPr lang="en-US" sz="1300">
                <a:solidFill>
                  <a:srgbClr val="E0E4E7"/>
                </a:solidFill>
                <a:latin typeface="Roboto"/>
                <a:ea typeface="Roboto"/>
                <a:cs typeface="Roboto"/>
                <a:sym typeface="Roboto"/>
              </a:rPr>
              <a:t> is transparent</a:t>
            </a:r>
            <a:endParaRPr sz="1300">
              <a:solidFill>
                <a:srgbClr val="E0E4E7"/>
              </a:solidFill>
              <a:latin typeface="Roboto"/>
              <a:ea typeface="Roboto"/>
              <a:cs typeface="Roboto"/>
              <a:sym typeface="Roboto"/>
            </a:endParaRPr>
          </a:p>
          <a:p>
            <a:pPr indent="-311150" lvl="1" marL="914400" rtl="0" algn="l">
              <a:spcBef>
                <a:spcPts val="0"/>
              </a:spcBef>
              <a:spcAft>
                <a:spcPts val="0"/>
              </a:spcAft>
              <a:buClr>
                <a:srgbClr val="E0E4E7"/>
              </a:buClr>
              <a:buSzPts val="1300"/>
              <a:buFont typeface="Roboto"/>
              <a:buChar char="☆"/>
            </a:pPr>
            <a:r>
              <a:rPr lang="en-US" sz="1300">
                <a:solidFill>
                  <a:srgbClr val="E0E4E7"/>
                </a:solidFill>
                <a:latin typeface="Roboto"/>
                <a:ea typeface="Roboto"/>
                <a:cs typeface="Roboto"/>
                <a:sym typeface="Roboto"/>
              </a:rPr>
              <a:t>LET ME SEE &gt;:(</a:t>
            </a:r>
            <a:endParaRPr sz="1300">
              <a:solidFill>
                <a:srgbClr val="E0E4E7"/>
              </a:solidFill>
              <a:latin typeface="Roboto"/>
              <a:ea typeface="Roboto"/>
              <a:cs typeface="Roboto"/>
              <a:sym typeface="Roboto"/>
            </a:endParaRPr>
          </a:p>
        </p:txBody>
      </p:sp>
      <p:sp>
        <p:nvSpPr>
          <p:cNvPr id="40" name="Google Shape;40;p2"/>
          <p:cNvSpPr/>
          <p:nvPr/>
        </p:nvSpPr>
        <p:spPr>
          <a:xfrm>
            <a:off x="11551615" y="640080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45" name="Shape 45"/>
        <p:cNvGrpSpPr/>
        <p:nvPr/>
      </p:nvGrpSpPr>
      <p:grpSpPr>
        <a:xfrm>
          <a:off x="0" y="0"/>
          <a:ext cx="0" cy="0"/>
          <a:chOff x="0" y="0"/>
          <a:chExt cx="0" cy="0"/>
        </a:xfrm>
      </p:grpSpPr>
      <p:sp>
        <p:nvSpPr>
          <p:cNvPr id="46" name="Google Shape;46;p3"/>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WHAT </a:t>
            </a:r>
            <a:r>
              <a:rPr b="1" lang="en-US" sz="1300">
                <a:solidFill>
                  <a:srgbClr val="8A9A28"/>
                </a:solidFill>
                <a:latin typeface="Roboto"/>
                <a:ea typeface="Roboto"/>
                <a:cs typeface="Roboto"/>
                <a:sym typeface="Roboto"/>
              </a:rPr>
              <a:t>I </a:t>
            </a:r>
            <a:r>
              <a:rPr b="1" i="0" lang="en-US" sz="1300" u="none" cap="none" strike="noStrike">
                <a:solidFill>
                  <a:srgbClr val="8A9A28"/>
                </a:solidFill>
                <a:latin typeface="Roboto"/>
                <a:ea typeface="Roboto"/>
                <a:cs typeface="Roboto"/>
                <a:sym typeface="Roboto"/>
              </a:rPr>
              <a:t>BUILT</a:t>
            </a:r>
            <a:endParaRPr b="0" i="0" sz="1300" u="none" cap="none" strike="noStrike">
              <a:solidFill>
                <a:schemeClr val="dk1"/>
              </a:solidFill>
              <a:latin typeface="Calibri"/>
              <a:ea typeface="Calibri"/>
              <a:cs typeface="Calibri"/>
              <a:sym typeface="Calibri"/>
            </a:endParaRPr>
          </a:p>
        </p:txBody>
      </p:sp>
      <p:sp>
        <p:nvSpPr>
          <p:cNvPr id="47" name="Google Shape;47;p3"/>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3000"/>
              <a:buFont typeface="Roboto"/>
              <a:buNone/>
            </a:pPr>
            <a:r>
              <a:rPr b="1" i="0" lang="en-US" sz="3000" u="none" cap="none" strike="noStrike">
                <a:solidFill>
                  <a:srgbClr val="2B3538"/>
                </a:solidFill>
                <a:latin typeface="Roboto"/>
                <a:ea typeface="Roboto"/>
                <a:cs typeface="Roboto"/>
                <a:sym typeface="Roboto"/>
              </a:rPr>
              <a:t>A fragrance recommender </a:t>
            </a:r>
            <a:endParaRPr b="0" i="0" sz="3000" u="none" cap="none" strike="noStrike">
              <a:solidFill>
                <a:schemeClr val="dk1"/>
              </a:solidFill>
              <a:latin typeface="Calibri"/>
              <a:ea typeface="Calibri"/>
              <a:cs typeface="Calibri"/>
              <a:sym typeface="Calibri"/>
            </a:endParaRPr>
          </a:p>
        </p:txBody>
      </p:sp>
      <p:sp>
        <p:nvSpPr>
          <p:cNvPr id="48" name="Google Shape;48;p3"/>
          <p:cNvSpPr/>
          <p:nvPr/>
        </p:nvSpPr>
        <p:spPr>
          <a:xfrm>
            <a:off x="640080" y="1600200"/>
            <a:ext cx="9601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500"/>
              <a:buFont typeface="Roboto"/>
              <a:buNone/>
            </a:pPr>
            <a:r>
              <a:rPr b="1" i="1" lang="en-US" sz="1500">
                <a:solidFill>
                  <a:srgbClr val="44555A"/>
                </a:solidFill>
                <a:latin typeface="Roboto"/>
                <a:ea typeface="Roboto"/>
                <a:cs typeface="Roboto"/>
                <a:sym typeface="Roboto"/>
              </a:rPr>
              <a:t>made for those </a:t>
            </a:r>
            <a:r>
              <a:rPr i="1" lang="en-US" sz="1500">
                <a:solidFill>
                  <a:srgbClr val="44555A"/>
                </a:solidFill>
                <a:latin typeface="Roboto"/>
                <a:ea typeface="Roboto"/>
                <a:cs typeface="Roboto"/>
                <a:sym typeface="Roboto"/>
              </a:rPr>
              <a:t>(me)</a:t>
            </a:r>
            <a:r>
              <a:rPr b="1" i="1" lang="en-US" sz="1500">
                <a:solidFill>
                  <a:srgbClr val="44555A"/>
                </a:solidFill>
                <a:latin typeface="Roboto"/>
                <a:ea typeface="Roboto"/>
                <a:cs typeface="Roboto"/>
                <a:sym typeface="Roboto"/>
              </a:rPr>
              <a:t> who want </a:t>
            </a:r>
            <a:r>
              <a:rPr i="1" lang="en-US" sz="1500">
                <a:solidFill>
                  <a:srgbClr val="44555A"/>
                </a:solidFill>
                <a:latin typeface="Roboto"/>
                <a:ea typeface="Roboto"/>
                <a:cs typeface="Roboto"/>
                <a:sym typeface="Roboto"/>
              </a:rPr>
              <a:t>(need)</a:t>
            </a:r>
            <a:r>
              <a:rPr b="1" i="1" lang="en-US" sz="1500">
                <a:solidFill>
                  <a:srgbClr val="44555A"/>
                </a:solidFill>
                <a:latin typeface="Roboto"/>
                <a:ea typeface="Roboto"/>
                <a:cs typeface="Roboto"/>
                <a:sym typeface="Roboto"/>
              </a:rPr>
              <a:t> to know</a:t>
            </a:r>
            <a:endParaRPr b="1" i="0" sz="1500" u="none" cap="none" strike="noStrike">
              <a:solidFill>
                <a:schemeClr val="dk1"/>
              </a:solidFill>
              <a:latin typeface="Roboto"/>
              <a:ea typeface="Roboto"/>
              <a:cs typeface="Roboto"/>
              <a:sym typeface="Roboto"/>
            </a:endParaRPr>
          </a:p>
        </p:txBody>
      </p:sp>
      <p:sp>
        <p:nvSpPr>
          <p:cNvPr id="49" name="Google Shape;49;p3"/>
          <p:cNvSpPr/>
          <p:nvPr/>
        </p:nvSpPr>
        <p:spPr>
          <a:xfrm>
            <a:off x="640080" y="2377440"/>
            <a:ext cx="5120640" cy="3108960"/>
          </a:xfrm>
          <a:prstGeom prst="roundRect">
            <a:avLst>
              <a:gd fmla="val 2353" name="adj"/>
            </a:avLst>
          </a:prstGeom>
          <a:solidFill>
            <a:srgbClr val="3D4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914400" y="269748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300"/>
              <a:buFont typeface="Roboto"/>
              <a:buNone/>
            </a:pPr>
            <a:r>
              <a:rPr b="1" i="0" lang="en-US" sz="1300" u="none" cap="none" strike="noStrike">
                <a:solidFill>
                  <a:srgbClr val="D1D5DB"/>
                </a:solidFill>
                <a:latin typeface="Roboto"/>
                <a:ea typeface="Roboto"/>
                <a:cs typeface="Roboto"/>
                <a:sym typeface="Roboto"/>
              </a:rPr>
              <a:t>MOST TOOLS</a:t>
            </a:r>
            <a:endParaRPr b="0" i="0" sz="1300" u="none" cap="none" strike="noStrike">
              <a:solidFill>
                <a:schemeClr val="dk1"/>
              </a:solidFill>
              <a:latin typeface="Calibri"/>
              <a:ea typeface="Calibri"/>
              <a:cs typeface="Calibri"/>
              <a:sym typeface="Calibri"/>
            </a:endParaRPr>
          </a:p>
        </p:txBody>
      </p:sp>
      <p:sp>
        <p:nvSpPr>
          <p:cNvPr id="51" name="Google Shape;51;p3"/>
          <p:cNvSpPr/>
          <p:nvPr/>
        </p:nvSpPr>
        <p:spPr>
          <a:xfrm>
            <a:off x="914400" y="3154671"/>
            <a:ext cx="4572000" cy="200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900"/>
              <a:buFont typeface="Roboto"/>
              <a:buNone/>
            </a:pPr>
            <a:r>
              <a:rPr b="1" lang="en-US" sz="1900">
                <a:solidFill>
                  <a:srgbClr val="F6F7F8"/>
                </a:solidFill>
                <a:latin typeface="Roboto"/>
                <a:ea typeface="Roboto"/>
                <a:cs typeface="Roboto"/>
                <a:sym typeface="Roboto"/>
              </a:rPr>
              <a:t>my input</a:t>
            </a:r>
            <a:endParaRPr b="1" sz="1900">
              <a:solidFill>
                <a:srgbClr val="F6F7F8"/>
              </a:solidFill>
              <a:latin typeface="Roboto"/>
              <a:ea typeface="Roboto"/>
              <a:cs typeface="Roboto"/>
              <a:sym typeface="Roboto"/>
            </a:endParaRPr>
          </a:p>
          <a:p>
            <a:pPr indent="0" lvl="0" marL="0" marR="0" rtl="0" algn="l">
              <a:spcBef>
                <a:spcPts val="0"/>
              </a:spcBef>
              <a:spcAft>
                <a:spcPts val="0"/>
              </a:spcAft>
              <a:buClr>
                <a:srgbClr val="F6F7F8"/>
              </a:buClr>
              <a:buSzPts val="1900"/>
              <a:buFont typeface="Roboto"/>
              <a:buNone/>
            </a:pPr>
            <a:r>
              <a:t/>
            </a:r>
            <a:endParaRPr b="1" sz="1900">
              <a:solidFill>
                <a:srgbClr val="F6F7F8"/>
              </a:solidFill>
              <a:latin typeface="Roboto"/>
              <a:ea typeface="Roboto"/>
              <a:cs typeface="Roboto"/>
              <a:sym typeface="Roboto"/>
            </a:endParaRPr>
          </a:p>
          <a:p>
            <a:pPr indent="457200" lvl="0" marL="0" marR="0" rtl="0" algn="l">
              <a:spcBef>
                <a:spcPts val="0"/>
              </a:spcBef>
              <a:spcAft>
                <a:spcPts val="0"/>
              </a:spcAft>
              <a:buClr>
                <a:srgbClr val="F6F7F8"/>
              </a:buClr>
              <a:buSzPts val="1900"/>
              <a:buFont typeface="Roboto"/>
              <a:buNone/>
            </a:pPr>
            <a:r>
              <a:rPr b="1" lang="en-US" sz="1900">
                <a:solidFill>
                  <a:srgbClr val="F6F7F8"/>
                </a:solidFill>
                <a:latin typeface="Roboto"/>
                <a:ea typeface="Roboto"/>
                <a:cs typeface="Roboto"/>
                <a:sym typeface="Roboto"/>
              </a:rPr>
              <a:t>→ </a:t>
            </a:r>
            <a:r>
              <a:rPr b="1" i="0" lang="en-US" sz="1900" u="none" cap="none" strike="noStrike">
                <a:solidFill>
                  <a:srgbClr val="F6F7F8"/>
                </a:solidFill>
                <a:latin typeface="Roboto"/>
                <a:ea typeface="Roboto"/>
                <a:cs typeface="Roboto"/>
                <a:sym typeface="Roboto"/>
              </a:rPr>
              <a:t>black box calculation</a:t>
            </a:r>
            <a:endParaRPr b="1" i="0" sz="1900" u="none" cap="none" strike="noStrike">
              <a:solidFill>
                <a:srgbClr val="F6F7F8"/>
              </a:solidFill>
              <a:latin typeface="Roboto"/>
              <a:ea typeface="Roboto"/>
              <a:cs typeface="Roboto"/>
              <a:sym typeface="Roboto"/>
            </a:endParaRPr>
          </a:p>
          <a:p>
            <a:pPr indent="0" lvl="0" marL="0" marR="0" rtl="0" algn="l">
              <a:spcBef>
                <a:spcPts val="0"/>
              </a:spcBef>
              <a:spcAft>
                <a:spcPts val="0"/>
              </a:spcAft>
              <a:buClr>
                <a:srgbClr val="F6F7F8"/>
              </a:buClr>
              <a:buSzPts val="1900"/>
              <a:buFont typeface="Roboto"/>
              <a:buNone/>
            </a:pPr>
            <a:r>
              <a:t/>
            </a:r>
            <a:endParaRPr b="1" sz="1900">
              <a:solidFill>
                <a:srgbClr val="F6F7F8"/>
              </a:solidFill>
              <a:latin typeface="Roboto"/>
              <a:ea typeface="Roboto"/>
              <a:cs typeface="Roboto"/>
              <a:sym typeface="Roboto"/>
            </a:endParaRPr>
          </a:p>
          <a:p>
            <a:pPr indent="457200" lvl="0" marL="457200" marR="0" rtl="0" algn="l">
              <a:spcBef>
                <a:spcPts val="0"/>
              </a:spcBef>
              <a:spcAft>
                <a:spcPts val="0"/>
              </a:spcAft>
              <a:buClr>
                <a:srgbClr val="F6F7F8"/>
              </a:buClr>
              <a:buSzPts val="1900"/>
              <a:buFont typeface="Roboto"/>
              <a:buNone/>
            </a:pPr>
            <a:r>
              <a:rPr b="1" i="0" lang="en-US" sz="1900" u="none" cap="none" strike="noStrike">
                <a:solidFill>
                  <a:srgbClr val="F6F7F8"/>
                </a:solidFill>
                <a:latin typeface="Roboto"/>
                <a:ea typeface="Roboto"/>
                <a:cs typeface="Roboto"/>
                <a:sym typeface="Roboto"/>
              </a:rPr>
              <a:t>→ mystery result</a:t>
            </a:r>
            <a:endParaRPr b="0" i="0" sz="1900" u="none" cap="none" strike="noStrike">
              <a:solidFill>
                <a:schemeClr val="dk1"/>
              </a:solidFill>
              <a:latin typeface="Calibri"/>
              <a:ea typeface="Calibri"/>
              <a:cs typeface="Calibri"/>
              <a:sym typeface="Calibri"/>
            </a:endParaRPr>
          </a:p>
        </p:txBody>
      </p:sp>
      <p:sp>
        <p:nvSpPr>
          <p:cNvPr id="52" name="Google Shape;52;p3"/>
          <p:cNvSpPr/>
          <p:nvPr/>
        </p:nvSpPr>
        <p:spPr>
          <a:xfrm>
            <a:off x="6126480" y="2377440"/>
            <a:ext cx="5120640" cy="3108960"/>
          </a:xfrm>
          <a:prstGeom prst="roundRect">
            <a:avLst>
              <a:gd fmla="val 2353" name="adj"/>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6400800" y="269748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1300"/>
              <a:buFont typeface="Roboto"/>
              <a:buNone/>
            </a:pPr>
            <a:r>
              <a:rPr b="1" lang="en-US" sz="1300">
                <a:solidFill>
                  <a:srgbClr val="1F2729"/>
                </a:solidFill>
                <a:latin typeface="Roboto"/>
                <a:ea typeface="Roboto"/>
                <a:cs typeface="Roboto"/>
                <a:sym typeface="Roboto"/>
              </a:rPr>
              <a:t>MINE</a:t>
            </a:r>
            <a:endParaRPr b="0" i="0" sz="1300" u="none" cap="none" strike="noStrike">
              <a:solidFill>
                <a:schemeClr val="dk1"/>
              </a:solidFill>
              <a:latin typeface="Calibri"/>
              <a:ea typeface="Calibri"/>
              <a:cs typeface="Calibri"/>
              <a:sym typeface="Calibri"/>
            </a:endParaRPr>
          </a:p>
        </p:txBody>
      </p:sp>
      <p:sp>
        <p:nvSpPr>
          <p:cNvPr id="54" name="Google Shape;54;p3"/>
          <p:cNvSpPr/>
          <p:nvPr/>
        </p:nvSpPr>
        <p:spPr>
          <a:xfrm>
            <a:off x="6400800" y="3154671"/>
            <a:ext cx="4572000" cy="2007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1900"/>
              <a:buFont typeface="Roboto"/>
              <a:buNone/>
            </a:pPr>
            <a:r>
              <a:rPr b="1" lang="en-US" sz="1900">
                <a:solidFill>
                  <a:srgbClr val="1F2729"/>
                </a:solidFill>
                <a:latin typeface="Roboto"/>
                <a:ea typeface="Roboto"/>
                <a:cs typeface="Roboto"/>
                <a:sym typeface="Roboto"/>
              </a:rPr>
              <a:t>my </a:t>
            </a:r>
            <a:r>
              <a:rPr b="1" i="0" lang="en-US" sz="1900" u="none" cap="none" strike="noStrike">
                <a:solidFill>
                  <a:srgbClr val="1F2729"/>
                </a:solidFill>
                <a:latin typeface="Roboto"/>
                <a:ea typeface="Roboto"/>
                <a:cs typeface="Roboto"/>
                <a:sym typeface="Roboto"/>
              </a:rPr>
              <a:t>input </a:t>
            </a:r>
            <a:endParaRPr b="1" i="0" sz="1900" u="none" cap="none" strike="noStrike">
              <a:solidFill>
                <a:srgbClr val="1F2729"/>
              </a:solidFill>
              <a:latin typeface="Roboto"/>
              <a:ea typeface="Roboto"/>
              <a:cs typeface="Roboto"/>
              <a:sym typeface="Roboto"/>
            </a:endParaRPr>
          </a:p>
          <a:p>
            <a:pPr indent="0" lvl="0" marL="0" marR="0" rtl="0" algn="l">
              <a:spcBef>
                <a:spcPts val="0"/>
              </a:spcBef>
              <a:spcAft>
                <a:spcPts val="0"/>
              </a:spcAft>
              <a:buClr>
                <a:srgbClr val="1F2729"/>
              </a:buClr>
              <a:buSzPts val="1900"/>
              <a:buFont typeface="Roboto"/>
              <a:buNone/>
            </a:pPr>
            <a:r>
              <a:t/>
            </a:r>
            <a:endParaRPr b="1" sz="1900">
              <a:solidFill>
                <a:srgbClr val="1F2729"/>
              </a:solidFill>
              <a:latin typeface="Roboto"/>
              <a:ea typeface="Roboto"/>
              <a:cs typeface="Roboto"/>
              <a:sym typeface="Roboto"/>
            </a:endParaRPr>
          </a:p>
          <a:p>
            <a:pPr indent="457200" lvl="0" marL="0" marR="0" rtl="0" algn="l">
              <a:spcBef>
                <a:spcPts val="0"/>
              </a:spcBef>
              <a:spcAft>
                <a:spcPts val="0"/>
              </a:spcAft>
              <a:buClr>
                <a:srgbClr val="1F2729"/>
              </a:buClr>
              <a:buSzPts val="1900"/>
              <a:buFont typeface="Roboto"/>
              <a:buNone/>
            </a:pPr>
            <a:r>
              <a:rPr b="1" i="0" lang="en-US" sz="1900" u="none" cap="none" strike="noStrike">
                <a:solidFill>
                  <a:srgbClr val="1F2729"/>
                </a:solidFill>
                <a:latin typeface="Roboto"/>
                <a:ea typeface="Roboto"/>
                <a:cs typeface="Roboto"/>
                <a:sym typeface="Roboto"/>
              </a:rPr>
              <a:t>→ transparent breakdown</a:t>
            </a:r>
            <a:endParaRPr b="1" i="0" sz="1900" u="none" cap="none" strike="noStrike">
              <a:solidFill>
                <a:srgbClr val="1F2729"/>
              </a:solidFill>
              <a:latin typeface="Roboto"/>
              <a:ea typeface="Roboto"/>
              <a:cs typeface="Roboto"/>
              <a:sym typeface="Roboto"/>
            </a:endParaRPr>
          </a:p>
          <a:p>
            <a:pPr indent="457200" lvl="0" marL="0" marR="0" rtl="0" algn="l">
              <a:spcBef>
                <a:spcPts val="0"/>
              </a:spcBef>
              <a:spcAft>
                <a:spcPts val="0"/>
              </a:spcAft>
              <a:buClr>
                <a:srgbClr val="1F2729"/>
              </a:buClr>
              <a:buSzPts val="1900"/>
              <a:buFont typeface="Roboto"/>
              <a:buNone/>
            </a:pPr>
            <a:r>
              <a:t/>
            </a:r>
            <a:endParaRPr b="1" sz="1900">
              <a:solidFill>
                <a:srgbClr val="1F2729"/>
              </a:solidFill>
              <a:latin typeface="Roboto"/>
              <a:ea typeface="Roboto"/>
              <a:cs typeface="Roboto"/>
              <a:sym typeface="Roboto"/>
            </a:endParaRPr>
          </a:p>
          <a:p>
            <a:pPr indent="0" lvl="0" marL="0" marR="0" rtl="0" algn="l">
              <a:spcBef>
                <a:spcPts val="0"/>
              </a:spcBef>
              <a:spcAft>
                <a:spcPts val="0"/>
              </a:spcAft>
              <a:buClr>
                <a:srgbClr val="1F2729"/>
              </a:buClr>
              <a:buSzPts val="1900"/>
              <a:buFont typeface="Roboto"/>
              <a:buNone/>
            </a:pPr>
            <a:r>
              <a:rPr b="1" lang="en-US" sz="1900">
                <a:solidFill>
                  <a:srgbClr val="1F2729"/>
                </a:solidFill>
                <a:latin typeface="Roboto"/>
                <a:ea typeface="Roboto"/>
                <a:cs typeface="Roboto"/>
                <a:sym typeface="Roboto"/>
              </a:rPr>
              <a:t>		→ now I know :D</a:t>
            </a:r>
            <a:endParaRPr b="1" sz="1900">
              <a:solidFill>
                <a:srgbClr val="1F2729"/>
              </a:solidFill>
              <a:latin typeface="Roboto"/>
              <a:ea typeface="Roboto"/>
              <a:cs typeface="Roboto"/>
              <a:sym typeface="Roboto"/>
            </a:endParaRPr>
          </a:p>
        </p:txBody>
      </p:sp>
      <p:sp>
        <p:nvSpPr>
          <p:cNvPr id="55" name="Google Shape;55;p3"/>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60" name="Shape 60"/>
        <p:cNvGrpSpPr/>
        <p:nvPr/>
      </p:nvGrpSpPr>
      <p:grpSpPr>
        <a:xfrm>
          <a:off x="0" y="0"/>
          <a:ext cx="0" cy="0"/>
          <a:chOff x="0" y="0"/>
          <a:chExt cx="0" cy="0"/>
        </a:xfrm>
      </p:grpSpPr>
      <p:sp>
        <p:nvSpPr>
          <p:cNvPr id="61" name="Google Shape;61;p5"/>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WHAT </a:t>
            </a:r>
            <a:r>
              <a:rPr b="1" lang="en-US" sz="1300">
                <a:solidFill>
                  <a:srgbClr val="8A9A28"/>
                </a:solidFill>
                <a:latin typeface="Roboto"/>
                <a:ea typeface="Roboto"/>
                <a:cs typeface="Roboto"/>
                <a:sym typeface="Roboto"/>
              </a:rPr>
              <a:t>I </a:t>
            </a:r>
            <a:r>
              <a:rPr b="1" i="0" lang="en-US" sz="1300" u="none" cap="none" strike="noStrike">
                <a:solidFill>
                  <a:srgbClr val="8A9A28"/>
                </a:solidFill>
                <a:latin typeface="Roboto"/>
                <a:ea typeface="Roboto"/>
                <a:cs typeface="Roboto"/>
                <a:sym typeface="Roboto"/>
              </a:rPr>
              <a:t>BUILT</a:t>
            </a:r>
            <a:endParaRPr b="0" i="0" sz="1300" u="none" cap="none" strike="noStrike">
              <a:solidFill>
                <a:schemeClr val="dk1"/>
              </a:solidFill>
              <a:latin typeface="Calibri"/>
              <a:ea typeface="Calibri"/>
              <a:cs typeface="Calibri"/>
              <a:sym typeface="Calibri"/>
            </a:endParaRPr>
          </a:p>
        </p:txBody>
      </p:sp>
      <p:sp>
        <p:nvSpPr>
          <p:cNvPr id="62" name="Google Shape;62;p5"/>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800"/>
              <a:buFont typeface="Roboto"/>
              <a:buNone/>
            </a:pPr>
            <a:r>
              <a:rPr b="1" i="0" lang="en-US" sz="2800" u="none" cap="none" strike="noStrike">
                <a:solidFill>
                  <a:srgbClr val="2B3538"/>
                </a:solidFill>
                <a:latin typeface="Roboto"/>
                <a:ea typeface="Roboto"/>
                <a:cs typeface="Roboto"/>
                <a:sym typeface="Roboto"/>
              </a:rPr>
              <a:t>Transparent by design</a:t>
            </a:r>
            <a:endParaRPr b="0" i="0" sz="2800" u="none" cap="none" strike="noStrike">
              <a:solidFill>
                <a:schemeClr val="dk1"/>
              </a:solidFill>
              <a:latin typeface="Calibri"/>
              <a:ea typeface="Calibri"/>
              <a:cs typeface="Calibri"/>
              <a:sym typeface="Calibri"/>
            </a:endParaRPr>
          </a:p>
        </p:txBody>
      </p:sp>
      <p:sp>
        <p:nvSpPr>
          <p:cNvPr id="63" name="Google Shape;63;p5"/>
          <p:cNvSpPr/>
          <p:nvPr/>
        </p:nvSpPr>
        <p:spPr>
          <a:xfrm>
            <a:off x="640080" y="155448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0" i="1" lang="en-US" sz="1300" u="none" cap="none" strike="noStrike">
                <a:solidFill>
                  <a:srgbClr val="44555A"/>
                </a:solidFill>
                <a:latin typeface="Roboto"/>
                <a:ea typeface="Roboto"/>
                <a:cs typeface="Roboto"/>
                <a:sym typeface="Roboto"/>
              </a:rPr>
              <a:t>every recommendation </a:t>
            </a:r>
            <a:r>
              <a:rPr i="1" lang="en-US" sz="1300">
                <a:solidFill>
                  <a:srgbClr val="44555A"/>
                </a:solidFill>
                <a:latin typeface="Roboto"/>
                <a:ea typeface="Roboto"/>
                <a:cs typeface="Roboto"/>
                <a:sym typeface="Roboto"/>
              </a:rPr>
              <a:t>comes with </a:t>
            </a:r>
            <a:r>
              <a:rPr b="0" i="1" lang="en-US" sz="1300" u="none" cap="none" strike="noStrike">
                <a:solidFill>
                  <a:srgbClr val="44555A"/>
                </a:solidFill>
                <a:latin typeface="Roboto"/>
                <a:ea typeface="Roboto"/>
                <a:cs typeface="Roboto"/>
                <a:sym typeface="Roboto"/>
              </a:rPr>
              <a:t>a breakdown, not just a score </a:t>
            </a:r>
            <a:r>
              <a:rPr i="1" lang="en-US" sz="1300">
                <a:solidFill>
                  <a:srgbClr val="44555A"/>
                </a:solidFill>
                <a:latin typeface="Roboto"/>
                <a:ea typeface="Roboto"/>
                <a:cs typeface="Roboto"/>
                <a:sym typeface="Roboto"/>
              </a:rPr>
              <a:t>to blindly trust</a:t>
            </a:r>
            <a:endParaRPr b="0" i="0" sz="1300" u="none" cap="none" strike="noStrike">
              <a:solidFill>
                <a:schemeClr val="dk1"/>
              </a:solidFill>
              <a:latin typeface="Calibri"/>
              <a:ea typeface="Calibri"/>
              <a:cs typeface="Calibri"/>
              <a:sym typeface="Calibri"/>
            </a:endParaRPr>
          </a:p>
        </p:txBody>
      </p:sp>
      <p:sp>
        <p:nvSpPr>
          <p:cNvPr id="64" name="Google Shape;64;p5"/>
          <p:cNvSpPr/>
          <p:nvPr/>
        </p:nvSpPr>
        <p:spPr>
          <a:xfrm>
            <a:off x="2194560" y="2148840"/>
            <a:ext cx="7772400" cy="3749040"/>
          </a:xfrm>
          <a:prstGeom prst="roundRect">
            <a:avLst>
              <a:gd fmla="val 1951" name="adj"/>
            </a:avLst>
          </a:prstGeom>
          <a:solidFill>
            <a:srgbClr val="E0E4E7"/>
          </a:solidFill>
          <a:ln cap="flat" cmpd="sng" w="12700">
            <a:solidFill>
              <a:srgbClr val="D1D5DB"/>
            </a:solidFill>
            <a:prstDash val="solid"/>
            <a:round/>
            <a:headEnd len="sm" w="sm" type="none"/>
            <a:tailEnd len="sm" w="sm" type="none"/>
          </a:ln>
          <a:effectLst>
            <a:outerShdw blurRad="101600" rotWithShape="0" algn="bl" dir="5400000" dist="38100">
              <a:srgbClr val="2B3538">
                <a:alpha val="14902"/>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5"/>
          <p:cNvSpPr/>
          <p:nvPr/>
        </p:nvSpPr>
        <p:spPr>
          <a:xfrm>
            <a:off x="2560320" y="2423160"/>
            <a:ext cx="5029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Allegra Magnifying Musk Essence</a:t>
            </a:r>
            <a:endParaRPr b="0" i="0" sz="1600" u="none" cap="none" strike="noStrike">
              <a:solidFill>
                <a:schemeClr val="dk1"/>
              </a:solidFill>
              <a:latin typeface="Calibri"/>
              <a:ea typeface="Calibri"/>
              <a:cs typeface="Calibri"/>
              <a:sym typeface="Calibri"/>
            </a:endParaRPr>
          </a:p>
        </p:txBody>
      </p:sp>
      <p:sp>
        <p:nvSpPr>
          <p:cNvPr id="66" name="Google Shape;66;p5"/>
          <p:cNvSpPr/>
          <p:nvPr/>
        </p:nvSpPr>
        <p:spPr>
          <a:xfrm>
            <a:off x="2560320" y="2770632"/>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200"/>
              <a:buFont typeface="Roboto"/>
              <a:buNone/>
            </a:pPr>
            <a:r>
              <a:rPr b="0" i="1" lang="en-US" sz="1200" u="none" cap="none" strike="noStrike">
                <a:solidFill>
                  <a:srgbClr val="44555A"/>
                </a:solidFill>
                <a:latin typeface="Roboto"/>
                <a:ea typeface="Roboto"/>
                <a:cs typeface="Roboto"/>
                <a:sym typeface="Roboto"/>
              </a:rPr>
              <a:t>(Bvlgari, 2021)</a:t>
            </a:r>
            <a:endParaRPr b="0" i="0" sz="1200" u="none" cap="none" strike="noStrike">
              <a:solidFill>
                <a:schemeClr val="dk1"/>
              </a:solidFill>
              <a:latin typeface="Calibri"/>
              <a:ea typeface="Calibri"/>
              <a:cs typeface="Calibri"/>
              <a:sym typeface="Calibri"/>
            </a:endParaRPr>
          </a:p>
        </p:txBody>
      </p:sp>
      <p:sp>
        <p:nvSpPr>
          <p:cNvPr id="67" name="Google Shape;67;p5"/>
          <p:cNvSpPr/>
          <p:nvPr/>
        </p:nvSpPr>
        <p:spPr>
          <a:xfrm>
            <a:off x="7589520" y="2423160"/>
            <a:ext cx="201168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44555A"/>
              </a:buClr>
              <a:buSzPts val="1200"/>
              <a:buFont typeface="Roboto"/>
              <a:buNone/>
            </a:pPr>
            <a:r>
              <a:rPr b="0" i="0" lang="en-US" sz="1200" u="none" cap="none" strike="noStrike">
                <a:solidFill>
                  <a:srgbClr val="44555A"/>
                </a:solidFill>
                <a:latin typeface="Roboto"/>
                <a:ea typeface="Roboto"/>
                <a:cs typeface="Roboto"/>
                <a:sym typeface="Roboto"/>
              </a:rPr>
              <a:t>Combined score</a:t>
            </a:r>
            <a:endParaRPr b="0" i="0" sz="1200" u="none" cap="none" strike="noStrike">
              <a:solidFill>
                <a:schemeClr val="dk1"/>
              </a:solidFill>
              <a:latin typeface="Calibri"/>
              <a:ea typeface="Calibri"/>
              <a:cs typeface="Calibri"/>
              <a:sym typeface="Calibri"/>
            </a:endParaRPr>
          </a:p>
        </p:txBody>
      </p:sp>
      <p:sp>
        <p:nvSpPr>
          <p:cNvPr id="68" name="Google Shape;68;p5"/>
          <p:cNvSpPr/>
          <p:nvPr/>
        </p:nvSpPr>
        <p:spPr>
          <a:xfrm>
            <a:off x="7589520" y="2697480"/>
            <a:ext cx="2011680" cy="5029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2B3538"/>
              </a:buClr>
              <a:buSzPts val="3000"/>
              <a:buFont typeface="Roboto"/>
              <a:buNone/>
            </a:pPr>
            <a:r>
              <a:rPr b="1" i="0" lang="en-US" sz="3000" u="none" cap="none" strike="noStrike">
                <a:solidFill>
                  <a:srgbClr val="2B3538"/>
                </a:solidFill>
                <a:latin typeface="Roboto"/>
                <a:ea typeface="Roboto"/>
                <a:cs typeface="Roboto"/>
                <a:sym typeface="Roboto"/>
              </a:rPr>
              <a:t>0.498</a:t>
            </a:r>
            <a:endParaRPr b="0" i="0" sz="3000" u="none" cap="none" strike="noStrike">
              <a:solidFill>
                <a:schemeClr val="dk1"/>
              </a:solidFill>
              <a:latin typeface="Calibri"/>
              <a:ea typeface="Calibri"/>
              <a:cs typeface="Calibri"/>
              <a:sym typeface="Calibri"/>
            </a:endParaRPr>
          </a:p>
        </p:txBody>
      </p:sp>
      <p:cxnSp>
        <p:nvCxnSpPr>
          <p:cNvPr id="69" name="Google Shape;69;p5"/>
          <p:cNvCxnSpPr/>
          <p:nvPr/>
        </p:nvCxnSpPr>
        <p:spPr>
          <a:xfrm>
            <a:off x="2560320" y="3246120"/>
            <a:ext cx="7040880" cy="0"/>
          </a:xfrm>
          <a:prstGeom prst="straightConnector1">
            <a:avLst/>
          </a:prstGeom>
          <a:noFill/>
          <a:ln cap="flat" cmpd="sng" w="12700">
            <a:solidFill>
              <a:srgbClr val="D1D5DB"/>
            </a:solidFill>
            <a:prstDash val="solid"/>
            <a:round/>
            <a:headEnd len="sm" w="sm" type="none"/>
            <a:tailEnd len="sm" w="sm" type="none"/>
          </a:ln>
        </p:spPr>
      </p:cxnSp>
      <p:sp>
        <p:nvSpPr>
          <p:cNvPr id="70" name="Google Shape;70;p5"/>
          <p:cNvSpPr/>
          <p:nvPr/>
        </p:nvSpPr>
        <p:spPr>
          <a:xfrm>
            <a:off x="2560320" y="3520440"/>
            <a:ext cx="3337560" cy="1005840"/>
          </a:xfrm>
          <a:prstGeom prst="roundRect">
            <a:avLst>
              <a:gd fmla="val 5455" name="adj"/>
            </a:avLst>
          </a:prstGeom>
          <a:solidFill>
            <a:srgbClr val="4455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2743200" y="365760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200"/>
              <a:buFont typeface="Roboto"/>
              <a:buNone/>
            </a:pPr>
            <a:r>
              <a:rPr b="0" i="0" lang="en-US" sz="1200" u="none" cap="none" strike="noStrike">
                <a:solidFill>
                  <a:srgbClr val="E0E4E7"/>
                </a:solidFill>
                <a:latin typeface="Roboto"/>
                <a:ea typeface="Roboto"/>
                <a:cs typeface="Roboto"/>
                <a:sym typeface="Roboto"/>
              </a:rPr>
              <a:t>notes similarity</a:t>
            </a:r>
            <a:endParaRPr b="0" i="0" sz="1200" u="none" cap="none" strike="noStrike">
              <a:solidFill>
                <a:schemeClr val="dk1"/>
              </a:solidFill>
              <a:latin typeface="Calibri"/>
              <a:ea typeface="Calibri"/>
              <a:cs typeface="Calibri"/>
              <a:sym typeface="Calibri"/>
            </a:endParaRPr>
          </a:p>
        </p:txBody>
      </p:sp>
      <p:sp>
        <p:nvSpPr>
          <p:cNvPr id="72" name="Google Shape;72;p5"/>
          <p:cNvSpPr/>
          <p:nvPr/>
        </p:nvSpPr>
        <p:spPr>
          <a:xfrm>
            <a:off x="2743200" y="393192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2400"/>
              <a:buFont typeface="Roboto"/>
              <a:buNone/>
            </a:pPr>
            <a:r>
              <a:rPr b="1" i="0" lang="en-US" sz="2400" u="none" cap="none" strike="noStrike">
                <a:solidFill>
                  <a:srgbClr val="F6F7F8"/>
                </a:solidFill>
                <a:latin typeface="Roboto"/>
                <a:ea typeface="Roboto"/>
                <a:cs typeface="Roboto"/>
                <a:sym typeface="Roboto"/>
              </a:rPr>
              <a:t>0.707</a:t>
            </a:r>
            <a:endParaRPr b="0" i="0" sz="2400" u="none" cap="none" strike="noStrike">
              <a:solidFill>
                <a:schemeClr val="dk1"/>
              </a:solidFill>
              <a:latin typeface="Calibri"/>
              <a:ea typeface="Calibri"/>
              <a:cs typeface="Calibri"/>
              <a:sym typeface="Calibri"/>
            </a:endParaRPr>
          </a:p>
        </p:txBody>
      </p:sp>
      <p:sp>
        <p:nvSpPr>
          <p:cNvPr id="73" name="Google Shape;73;p5"/>
          <p:cNvSpPr/>
          <p:nvPr/>
        </p:nvSpPr>
        <p:spPr>
          <a:xfrm>
            <a:off x="6263640" y="3520440"/>
            <a:ext cx="3337560" cy="1005840"/>
          </a:xfrm>
          <a:prstGeom prst="roundRect">
            <a:avLst>
              <a:gd fmla="val 5455" name="adj"/>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6446520" y="3657600"/>
            <a:ext cx="2743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1200"/>
              <a:buFont typeface="Roboto"/>
              <a:buNone/>
            </a:pPr>
            <a:r>
              <a:rPr b="0" i="0" lang="en-US" sz="1200" u="none" cap="none" strike="noStrike">
                <a:solidFill>
                  <a:srgbClr val="1F2729"/>
                </a:solidFill>
                <a:latin typeface="Roboto"/>
                <a:ea typeface="Roboto"/>
                <a:cs typeface="Roboto"/>
                <a:sym typeface="Roboto"/>
              </a:rPr>
              <a:t>perfumes similarity</a:t>
            </a:r>
            <a:endParaRPr b="0" i="0" sz="1200" u="none" cap="none" strike="noStrike">
              <a:solidFill>
                <a:schemeClr val="dk1"/>
              </a:solidFill>
              <a:latin typeface="Calibri"/>
              <a:ea typeface="Calibri"/>
              <a:cs typeface="Calibri"/>
              <a:sym typeface="Calibri"/>
            </a:endParaRPr>
          </a:p>
        </p:txBody>
      </p:sp>
      <p:sp>
        <p:nvSpPr>
          <p:cNvPr id="75" name="Google Shape;75;p5"/>
          <p:cNvSpPr/>
          <p:nvPr/>
        </p:nvSpPr>
        <p:spPr>
          <a:xfrm>
            <a:off x="6446520" y="393192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2400"/>
              <a:buFont typeface="Roboto"/>
              <a:buNone/>
            </a:pPr>
            <a:r>
              <a:rPr b="1" i="0" lang="en-US" sz="2400" u="none" cap="none" strike="noStrike">
                <a:solidFill>
                  <a:srgbClr val="1F2729"/>
                </a:solidFill>
                <a:latin typeface="Roboto"/>
                <a:ea typeface="Roboto"/>
                <a:cs typeface="Roboto"/>
                <a:sym typeface="Roboto"/>
              </a:rPr>
              <a:t>0.288</a:t>
            </a:r>
            <a:endParaRPr b="0" i="0" sz="2400" u="none" cap="none" strike="noStrike">
              <a:solidFill>
                <a:schemeClr val="dk1"/>
              </a:solidFill>
              <a:latin typeface="Calibri"/>
              <a:ea typeface="Calibri"/>
              <a:cs typeface="Calibri"/>
              <a:sym typeface="Calibri"/>
            </a:endParaRPr>
          </a:p>
        </p:txBody>
      </p:sp>
      <p:sp>
        <p:nvSpPr>
          <p:cNvPr id="76" name="Google Shape;76;p5"/>
          <p:cNvSpPr/>
          <p:nvPr/>
        </p:nvSpPr>
        <p:spPr>
          <a:xfrm>
            <a:off x="2560320" y="4709160"/>
            <a:ext cx="70408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150"/>
              <a:buFont typeface="Roboto"/>
              <a:buNone/>
            </a:pPr>
            <a:r>
              <a:rPr b="0" i="0" lang="en-US" sz="1150" u="none" cap="none" strike="noStrike">
                <a:solidFill>
                  <a:srgbClr val="44555A"/>
                </a:solidFill>
                <a:latin typeface="Roboto"/>
                <a:ea typeface="Roboto"/>
                <a:cs typeface="Roboto"/>
                <a:sym typeface="Roboto"/>
              </a:rPr>
              <a:t>Notes: ambrette (musk mallow), musk  ·  Accords: musky, powdery, floral, animalic, aromatic, sweet</a:t>
            </a:r>
            <a:endParaRPr b="0" i="0" sz="1150" u="none" cap="none" strike="noStrike">
              <a:solidFill>
                <a:schemeClr val="dk1"/>
              </a:solidFill>
              <a:latin typeface="Calibri"/>
              <a:ea typeface="Calibri"/>
              <a:cs typeface="Calibri"/>
              <a:sym typeface="Calibri"/>
            </a:endParaRPr>
          </a:p>
        </p:txBody>
      </p:sp>
      <p:sp>
        <p:nvSpPr>
          <p:cNvPr id="77" name="Google Shape;77;p5"/>
          <p:cNvSpPr/>
          <p:nvPr/>
        </p:nvSpPr>
        <p:spPr>
          <a:xfrm>
            <a:off x="2194560" y="6007608"/>
            <a:ext cx="77724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59A"/>
              </a:buClr>
              <a:buSzPts val="1100"/>
              <a:buFont typeface="Roboto"/>
              <a:buNone/>
            </a:pPr>
            <a:r>
              <a:rPr i="1" lang="en-US" sz="1100">
                <a:solidFill>
                  <a:srgbClr val="8B959A"/>
                </a:solidFill>
                <a:latin typeface="Roboto"/>
                <a:ea typeface="Roboto"/>
                <a:cs typeface="Roboto"/>
                <a:sym typeface="Roboto"/>
              </a:rPr>
              <a:t>example </a:t>
            </a:r>
            <a:r>
              <a:rPr b="0" i="1" lang="en-US" sz="1100" u="none" cap="none" strike="noStrike">
                <a:solidFill>
                  <a:srgbClr val="8B959A"/>
                </a:solidFill>
                <a:latin typeface="Roboto"/>
                <a:ea typeface="Roboto"/>
                <a:cs typeface="Roboto"/>
                <a:sym typeface="Roboto"/>
              </a:rPr>
              <a:t>output from the app (not to scale)</a:t>
            </a:r>
            <a:endParaRPr b="0" i="0" sz="1100" u="none" cap="none" strike="noStrike">
              <a:solidFill>
                <a:schemeClr val="dk1"/>
              </a:solidFill>
              <a:latin typeface="Calibri"/>
              <a:ea typeface="Calibri"/>
              <a:cs typeface="Calibri"/>
              <a:sym typeface="Calibri"/>
            </a:endParaRPr>
          </a:p>
        </p:txBody>
      </p:sp>
      <p:sp>
        <p:nvSpPr>
          <p:cNvPr id="78" name="Google Shape;78;p5"/>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83" name="Shape 83"/>
        <p:cNvGrpSpPr/>
        <p:nvPr/>
      </p:nvGrpSpPr>
      <p:grpSpPr>
        <a:xfrm>
          <a:off x="0" y="0"/>
          <a:ext cx="0" cy="0"/>
          <a:chOff x="0" y="0"/>
          <a:chExt cx="0" cy="0"/>
        </a:xfrm>
      </p:grpSpPr>
      <p:sp>
        <p:nvSpPr>
          <p:cNvPr id="84" name="Google Shape;84;p6"/>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WHAT </a:t>
            </a:r>
            <a:r>
              <a:rPr b="1" lang="en-US" sz="1300">
                <a:solidFill>
                  <a:srgbClr val="8A9A28"/>
                </a:solidFill>
                <a:latin typeface="Roboto"/>
                <a:ea typeface="Roboto"/>
                <a:cs typeface="Roboto"/>
                <a:sym typeface="Roboto"/>
              </a:rPr>
              <a:t>I </a:t>
            </a:r>
            <a:r>
              <a:rPr b="1" i="0" lang="en-US" sz="1300" u="none" cap="none" strike="noStrike">
                <a:solidFill>
                  <a:srgbClr val="8A9A28"/>
                </a:solidFill>
                <a:latin typeface="Roboto"/>
                <a:ea typeface="Roboto"/>
                <a:cs typeface="Roboto"/>
                <a:sym typeface="Roboto"/>
              </a:rPr>
              <a:t>BUILT</a:t>
            </a:r>
            <a:endParaRPr b="0" i="0" sz="1300" u="none" cap="none" strike="noStrike">
              <a:solidFill>
                <a:schemeClr val="dk1"/>
              </a:solidFill>
              <a:latin typeface="Calibri"/>
              <a:ea typeface="Calibri"/>
              <a:cs typeface="Calibri"/>
              <a:sym typeface="Calibri"/>
            </a:endParaRPr>
          </a:p>
        </p:txBody>
      </p:sp>
      <p:sp>
        <p:nvSpPr>
          <p:cNvPr id="85" name="Google Shape;85;p6"/>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800"/>
              <a:buFont typeface="Roboto"/>
              <a:buNone/>
            </a:pPr>
            <a:r>
              <a:rPr b="1" i="0" lang="en-US" sz="2800" u="none" cap="none" strike="noStrike">
                <a:solidFill>
                  <a:srgbClr val="2B3538"/>
                </a:solidFill>
                <a:latin typeface="Roboto"/>
                <a:ea typeface="Roboto"/>
                <a:cs typeface="Roboto"/>
                <a:sym typeface="Roboto"/>
              </a:rPr>
              <a:t>A combined query</a:t>
            </a:r>
            <a:endParaRPr b="0" i="0" sz="2800" u="none" cap="none" strike="noStrike">
              <a:solidFill>
                <a:schemeClr val="dk1"/>
              </a:solidFill>
              <a:latin typeface="Calibri"/>
              <a:ea typeface="Calibri"/>
              <a:cs typeface="Calibri"/>
              <a:sym typeface="Calibri"/>
            </a:endParaRPr>
          </a:p>
        </p:txBody>
      </p:sp>
      <p:sp>
        <p:nvSpPr>
          <p:cNvPr id="86" name="Google Shape;86;p6"/>
          <p:cNvSpPr/>
          <p:nvPr/>
        </p:nvSpPr>
        <p:spPr>
          <a:xfrm>
            <a:off x="640080" y="155448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0" i="1" lang="en-US" sz="1300" u="none" cap="none" strike="noStrike">
                <a:solidFill>
                  <a:srgbClr val="44555A"/>
                </a:solidFill>
                <a:latin typeface="Roboto"/>
                <a:ea typeface="Roboto"/>
                <a:cs typeface="Roboto"/>
                <a:sym typeface="Roboto"/>
              </a:rPr>
              <a:t>two independent inputs</a:t>
            </a:r>
            <a:r>
              <a:rPr i="1" lang="en-US" sz="1300">
                <a:solidFill>
                  <a:srgbClr val="44555A"/>
                </a:solidFill>
                <a:latin typeface="Roboto"/>
                <a:ea typeface="Roboto"/>
                <a:cs typeface="Roboto"/>
                <a:sym typeface="Roboto"/>
              </a:rPr>
              <a:t> → </a:t>
            </a:r>
            <a:r>
              <a:rPr b="0" i="1" lang="en-US" sz="1300" u="none" cap="none" strike="noStrike">
                <a:solidFill>
                  <a:srgbClr val="44555A"/>
                </a:solidFill>
                <a:latin typeface="Roboto"/>
                <a:ea typeface="Roboto"/>
                <a:cs typeface="Roboto"/>
                <a:sym typeface="Roboto"/>
              </a:rPr>
              <a:t>scored separately</a:t>
            </a:r>
            <a:r>
              <a:rPr i="1" lang="en-US" sz="1300">
                <a:solidFill>
                  <a:srgbClr val="44555A"/>
                </a:solidFill>
                <a:latin typeface="Roboto"/>
                <a:ea typeface="Roboto"/>
                <a:cs typeface="Roboto"/>
                <a:sym typeface="Roboto"/>
              </a:rPr>
              <a:t> →</a:t>
            </a:r>
            <a:r>
              <a:rPr b="0" i="1" lang="en-US" sz="1300" u="none" cap="none" strike="noStrike">
                <a:solidFill>
                  <a:srgbClr val="44555A"/>
                </a:solidFill>
                <a:latin typeface="Roboto"/>
                <a:ea typeface="Roboto"/>
                <a:cs typeface="Roboto"/>
                <a:sym typeface="Roboto"/>
              </a:rPr>
              <a:t> blended into one result</a:t>
            </a:r>
            <a:endParaRPr b="0" i="0" sz="1300" u="none" cap="none" strike="noStrike">
              <a:solidFill>
                <a:schemeClr val="dk1"/>
              </a:solidFill>
              <a:latin typeface="Calibri"/>
              <a:ea typeface="Calibri"/>
              <a:cs typeface="Calibri"/>
              <a:sym typeface="Calibri"/>
            </a:endParaRPr>
          </a:p>
        </p:txBody>
      </p:sp>
      <p:sp>
        <p:nvSpPr>
          <p:cNvPr id="87" name="Google Shape;87;p6"/>
          <p:cNvSpPr/>
          <p:nvPr/>
        </p:nvSpPr>
        <p:spPr>
          <a:xfrm>
            <a:off x="1097280" y="2286000"/>
            <a:ext cx="3291840" cy="1371600"/>
          </a:xfrm>
          <a:prstGeom prst="roundRect">
            <a:avLst>
              <a:gd fmla="val 5333" name="adj"/>
            </a:avLst>
          </a:prstGeom>
          <a:solidFill>
            <a:srgbClr val="E0E4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6"/>
          <p:cNvSpPr/>
          <p:nvPr/>
        </p:nvSpPr>
        <p:spPr>
          <a:xfrm>
            <a:off x="1371600" y="25146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1" i="0" lang="en-US" sz="1300" u="none" cap="none" strike="noStrike">
                <a:solidFill>
                  <a:srgbClr val="44555A"/>
                </a:solidFill>
                <a:latin typeface="Roboto"/>
                <a:ea typeface="Roboto"/>
                <a:cs typeface="Roboto"/>
                <a:sym typeface="Roboto"/>
              </a:rPr>
              <a:t>FRAGRANCES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555A"/>
              </a:buClr>
              <a:buSzPts val="1300"/>
              <a:buFont typeface="Roboto"/>
              <a:buNone/>
            </a:pPr>
            <a:r>
              <a:rPr b="1" i="0" lang="en-US" sz="1300" u="none" cap="none" strike="noStrike">
                <a:solidFill>
                  <a:srgbClr val="44555A"/>
                </a:solidFill>
                <a:latin typeface="Roboto"/>
                <a:ea typeface="Roboto"/>
                <a:cs typeface="Roboto"/>
                <a:sym typeface="Roboto"/>
              </a:rPr>
              <a:t>YOU LIKE</a:t>
            </a:r>
            <a:endParaRPr b="0" i="0" sz="1300" u="none" cap="none" strike="noStrike">
              <a:solidFill>
                <a:schemeClr val="dk1"/>
              </a:solidFill>
              <a:latin typeface="Calibri"/>
              <a:ea typeface="Calibri"/>
              <a:cs typeface="Calibri"/>
              <a:sym typeface="Calibri"/>
            </a:endParaRPr>
          </a:p>
        </p:txBody>
      </p:sp>
      <p:sp>
        <p:nvSpPr>
          <p:cNvPr id="89" name="Google Shape;89;p6"/>
          <p:cNvSpPr/>
          <p:nvPr/>
        </p:nvSpPr>
        <p:spPr>
          <a:xfrm>
            <a:off x="1371600" y="306324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800"/>
              <a:buFont typeface="Roboto"/>
              <a:buNone/>
            </a:pPr>
            <a:r>
              <a:rPr b="1" i="0" lang="en-US" sz="1800" u="none" cap="none" strike="noStrike">
                <a:solidFill>
                  <a:srgbClr val="2B3538"/>
                </a:solidFill>
                <a:latin typeface="Roboto"/>
                <a:ea typeface="Roboto"/>
                <a:cs typeface="Roboto"/>
                <a:sym typeface="Roboto"/>
              </a:rPr>
              <a:t>e.g. Libre</a:t>
            </a:r>
            <a:endParaRPr b="0" i="0" sz="1800" u="none" cap="none" strike="noStrike">
              <a:solidFill>
                <a:schemeClr val="dk1"/>
              </a:solidFill>
              <a:latin typeface="Calibri"/>
              <a:ea typeface="Calibri"/>
              <a:cs typeface="Calibri"/>
              <a:sym typeface="Calibri"/>
            </a:endParaRPr>
          </a:p>
        </p:txBody>
      </p:sp>
      <p:sp>
        <p:nvSpPr>
          <p:cNvPr id="90" name="Google Shape;90;p6"/>
          <p:cNvSpPr/>
          <p:nvPr/>
        </p:nvSpPr>
        <p:spPr>
          <a:xfrm>
            <a:off x="7772400" y="2286000"/>
            <a:ext cx="3291840" cy="1371600"/>
          </a:xfrm>
          <a:prstGeom prst="roundRect">
            <a:avLst>
              <a:gd fmla="val 5333" name="adj"/>
            </a:avLst>
          </a:prstGeom>
          <a:solidFill>
            <a:srgbClr val="E0E4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6"/>
          <p:cNvSpPr/>
          <p:nvPr/>
        </p:nvSpPr>
        <p:spPr>
          <a:xfrm>
            <a:off x="8046720" y="251460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1" i="0" lang="en-US" sz="1300" u="none" cap="none" strike="noStrike">
                <a:solidFill>
                  <a:srgbClr val="44555A"/>
                </a:solidFill>
                <a:latin typeface="Roboto"/>
                <a:ea typeface="Roboto"/>
                <a:cs typeface="Roboto"/>
                <a:sym typeface="Roboto"/>
              </a:rPr>
              <a:t>NOTES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4555A"/>
              </a:buClr>
              <a:buSzPts val="1300"/>
              <a:buFont typeface="Roboto"/>
              <a:buNone/>
            </a:pPr>
            <a:r>
              <a:rPr b="1" lang="en-US" sz="1300">
                <a:solidFill>
                  <a:srgbClr val="44555A"/>
                </a:solidFill>
                <a:latin typeface="Roboto"/>
                <a:ea typeface="Roboto"/>
                <a:cs typeface="Roboto"/>
                <a:sym typeface="Roboto"/>
              </a:rPr>
              <a:t>YOU LIKE</a:t>
            </a:r>
            <a:endParaRPr b="0" i="0" sz="1300" u="none" cap="none" strike="noStrike">
              <a:solidFill>
                <a:schemeClr val="dk1"/>
              </a:solidFill>
              <a:latin typeface="Calibri"/>
              <a:ea typeface="Calibri"/>
              <a:cs typeface="Calibri"/>
              <a:sym typeface="Calibri"/>
            </a:endParaRPr>
          </a:p>
        </p:txBody>
      </p:sp>
      <p:sp>
        <p:nvSpPr>
          <p:cNvPr id="92" name="Google Shape;92;p6"/>
          <p:cNvSpPr/>
          <p:nvPr/>
        </p:nvSpPr>
        <p:spPr>
          <a:xfrm>
            <a:off x="8046720" y="3063240"/>
            <a:ext cx="2743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800"/>
              <a:buFont typeface="Roboto"/>
              <a:buNone/>
            </a:pPr>
            <a:r>
              <a:rPr b="1" i="0" lang="en-US" sz="1800" u="none" cap="none" strike="noStrike">
                <a:solidFill>
                  <a:srgbClr val="2B3538"/>
                </a:solidFill>
                <a:latin typeface="Roboto"/>
                <a:ea typeface="Roboto"/>
                <a:cs typeface="Roboto"/>
                <a:sym typeface="Roboto"/>
              </a:rPr>
              <a:t>e.g. ambrette</a:t>
            </a:r>
            <a:endParaRPr b="0" i="0" sz="1800" u="none" cap="none" strike="noStrike">
              <a:solidFill>
                <a:schemeClr val="dk1"/>
              </a:solidFill>
              <a:latin typeface="Calibri"/>
              <a:ea typeface="Calibri"/>
              <a:cs typeface="Calibri"/>
              <a:sym typeface="Calibri"/>
            </a:endParaRPr>
          </a:p>
        </p:txBody>
      </p:sp>
      <p:sp>
        <p:nvSpPr>
          <p:cNvPr id="93" name="Google Shape;93;p6"/>
          <p:cNvSpPr/>
          <p:nvPr/>
        </p:nvSpPr>
        <p:spPr>
          <a:xfrm>
            <a:off x="3992728" y="4754880"/>
            <a:ext cx="4206240" cy="1280160"/>
          </a:xfrm>
          <a:prstGeom prst="roundRect">
            <a:avLst>
              <a:gd fmla="val 5714" name="adj"/>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6"/>
          <p:cNvSpPr/>
          <p:nvPr/>
        </p:nvSpPr>
        <p:spPr>
          <a:xfrm>
            <a:off x="4267048" y="4937760"/>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1300"/>
              <a:buFont typeface="Roboto"/>
              <a:buNone/>
            </a:pPr>
            <a:r>
              <a:rPr b="1" i="0" lang="en-US" sz="1300" u="none" cap="none" strike="noStrike">
                <a:solidFill>
                  <a:srgbClr val="1F2729"/>
                </a:solidFill>
                <a:latin typeface="Roboto"/>
                <a:ea typeface="Roboto"/>
                <a:cs typeface="Roboto"/>
                <a:sym typeface="Roboto"/>
              </a:rPr>
              <a:t>BLENDED RESULT</a:t>
            </a:r>
            <a:endParaRPr b="0" i="0" sz="1300" u="none" cap="none" strike="noStrike">
              <a:solidFill>
                <a:schemeClr val="dk1"/>
              </a:solidFill>
              <a:latin typeface="Calibri"/>
              <a:ea typeface="Calibri"/>
              <a:cs typeface="Calibri"/>
              <a:sym typeface="Calibri"/>
            </a:endParaRPr>
          </a:p>
        </p:txBody>
      </p:sp>
      <p:sp>
        <p:nvSpPr>
          <p:cNvPr id="95" name="Google Shape;95;p6"/>
          <p:cNvSpPr/>
          <p:nvPr/>
        </p:nvSpPr>
        <p:spPr>
          <a:xfrm>
            <a:off x="4114800" y="5303525"/>
            <a:ext cx="39318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1400"/>
              <a:buFont typeface="Roboto"/>
              <a:buNone/>
            </a:pPr>
            <a:r>
              <a:rPr b="1" i="0" lang="en-US" u="none" cap="none" strike="noStrike">
                <a:solidFill>
                  <a:srgbClr val="1F2729"/>
                </a:solidFill>
                <a:latin typeface="Roboto"/>
                <a:ea typeface="Roboto"/>
                <a:cs typeface="Roboto"/>
                <a:sym typeface="Roboto"/>
              </a:rPr>
              <a:t>scored separately</a:t>
            </a:r>
            <a:r>
              <a:rPr b="1" lang="en-US">
                <a:solidFill>
                  <a:srgbClr val="1F2729"/>
                </a:solidFill>
                <a:latin typeface="Roboto"/>
                <a:ea typeface="Roboto"/>
                <a:cs typeface="Roboto"/>
                <a:sym typeface="Roboto"/>
              </a:rPr>
              <a:t> </a:t>
            </a:r>
            <a:endParaRPr b="1">
              <a:solidFill>
                <a:srgbClr val="1F2729"/>
              </a:solidFill>
              <a:latin typeface="Roboto"/>
              <a:ea typeface="Roboto"/>
              <a:cs typeface="Roboto"/>
              <a:sym typeface="Roboto"/>
            </a:endParaRPr>
          </a:p>
          <a:p>
            <a:pPr indent="457200" lvl="0" marL="0" marR="0" rtl="0" algn="r">
              <a:spcBef>
                <a:spcPts val="0"/>
              </a:spcBef>
              <a:spcAft>
                <a:spcPts val="0"/>
              </a:spcAft>
              <a:buClr>
                <a:srgbClr val="1F2729"/>
              </a:buClr>
              <a:buSzPts val="1400"/>
              <a:buFont typeface="Roboto"/>
              <a:buNone/>
            </a:pPr>
            <a:r>
              <a:rPr b="1" lang="en-US">
                <a:solidFill>
                  <a:srgbClr val="1F2729"/>
                </a:solidFill>
                <a:latin typeface="Roboto"/>
                <a:ea typeface="Roboto"/>
                <a:cs typeface="Roboto"/>
                <a:sym typeface="Roboto"/>
              </a:rPr>
              <a:t>→ </a:t>
            </a:r>
            <a:r>
              <a:rPr b="1" i="0" lang="en-US" u="none" cap="none" strike="noStrike">
                <a:solidFill>
                  <a:srgbClr val="1F2729"/>
                </a:solidFill>
                <a:latin typeface="Roboto"/>
                <a:ea typeface="Roboto"/>
                <a:cs typeface="Roboto"/>
                <a:sym typeface="Roboto"/>
              </a:rPr>
              <a:t> combined per </a:t>
            </a:r>
            <a:r>
              <a:rPr b="1" lang="en-US">
                <a:solidFill>
                  <a:srgbClr val="1F2729"/>
                </a:solidFill>
                <a:latin typeface="Roboto"/>
                <a:ea typeface="Roboto"/>
                <a:cs typeface="Roboto"/>
                <a:sym typeface="Roboto"/>
              </a:rPr>
              <a:t>recommendation</a:t>
            </a:r>
            <a:endParaRPr b="0" i="0" u="none" cap="none" strike="noStrike">
              <a:solidFill>
                <a:schemeClr val="dk1"/>
              </a:solidFill>
              <a:latin typeface="Calibri"/>
              <a:ea typeface="Calibri"/>
              <a:cs typeface="Calibri"/>
              <a:sym typeface="Calibri"/>
            </a:endParaRPr>
          </a:p>
        </p:txBody>
      </p:sp>
      <p:sp>
        <p:nvSpPr>
          <p:cNvPr id="96" name="Google Shape;96;p6"/>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06</a:t>
            </a:r>
            <a:endParaRPr b="0" i="0" sz="1000" u="none" cap="none" strike="noStrike">
              <a:solidFill>
                <a:schemeClr val="dk1"/>
              </a:solidFill>
              <a:latin typeface="Calibri"/>
              <a:ea typeface="Calibri"/>
              <a:cs typeface="Calibri"/>
              <a:sym typeface="Calibri"/>
            </a:endParaRPr>
          </a:p>
        </p:txBody>
      </p:sp>
      <p:cxnSp>
        <p:nvCxnSpPr>
          <p:cNvPr id="97" name="Google Shape;97;p6"/>
          <p:cNvCxnSpPr/>
          <p:nvPr/>
        </p:nvCxnSpPr>
        <p:spPr>
          <a:xfrm flipH="1">
            <a:off x="6095848" y="3657600"/>
            <a:ext cx="3322472" cy="1097280"/>
          </a:xfrm>
          <a:prstGeom prst="straightConnector1">
            <a:avLst/>
          </a:prstGeom>
          <a:noFill/>
          <a:ln cap="flat" cmpd="sng" w="25400">
            <a:solidFill>
              <a:srgbClr val="8B959A"/>
            </a:solidFill>
            <a:prstDash val="solid"/>
            <a:round/>
            <a:headEnd len="sm" w="sm" type="none"/>
            <a:tailEnd len="med" w="med" type="triangle"/>
          </a:ln>
        </p:spPr>
      </p:cxnSp>
      <p:cxnSp>
        <p:nvCxnSpPr>
          <p:cNvPr id="98" name="Google Shape;98;p6"/>
          <p:cNvCxnSpPr/>
          <p:nvPr/>
        </p:nvCxnSpPr>
        <p:spPr>
          <a:xfrm>
            <a:off x="2743200" y="3657600"/>
            <a:ext cx="3352648" cy="1097280"/>
          </a:xfrm>
          <a:prstGeom prst="straightConnector1">
            <a:avLst/>
          </a:prstGeom>
          <a:noFill/>
          <a:ln cap="flat" cmpd="sng" w="25400">
            <a:solidFill>
              <a:srgbClr val="8B959A"/>
            </a:solidFill>
            <a:prstDash val="solid"/>
            <a:round/>
            <a:headEnd len="sm" w="sm"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103" name="Shape 103"/>
        <p:cNvGrpSpPr/>
        <p:nvPr/>
      </p:nvGrpSpPr>
      <p:grpSpPr>
        <a:xfrm>
          <a:off x="0" y="0"/>
          <a:ext cx="0" cy="0"/>
          <a:chOff x="0" y="0"/>
          <a:chExt cx="0" cy="0"/>
        </a:xfrm>
      </p:grpSpPr>
      <p:pic>
        <p:nvPicPr>
          <p:cNvPr id="104" name="Google Shape;104;g3f8931b1b28_0_62"/>
          <p:cNvPicPr preferRelativeResize="0"/>
          <p:nvPr/>
        </p:nvPicPr>
        <p:blipFill rotWithShape="1">
          <a:blip r:embed="rId3">
            <a:alphaModFix/>
          </a:blip>
          <a:srcRect b="0" l="0" r="0" t="0"/>
          <a:stretch/>
        </p:blipFill>
        <p:spPr>
          <a:xfrm>
            <a:off x="1295390" y="2022920"/>
            <a:ext cx="9235501" cy="3931800"/>
          </a:xfrm>
          <a:prstGeom prst="rect">
            <a:avLst/>
          </a:prstGeom>
          <a:noFill/>
          <a:ln>
            <a:noFill/>
          </a:ln>
        </p:spPr>
      </p:pic>
      <p:sp>
        <p:nvSpPr>
          <p:cNvPr id="105" name="Google Shape;105;g3f8931b1b28_0_62"/>
          <p:cNvSpPr/>
          <p:nvPr/>
        </p:nvSpPr>
        <p:spPr>
          <a:xfrm>
            <a:off x="640080" y="50292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WHAT </a:t>
            </a:r>
            <a:r>
              <a:rPr b="1" lang="en-US" sz="1300">
                <a:solidFill>
                  <a:srgbClr val="8A9A28"/>
                </a:solidFill>
                <a:latin typeface="Roboto"/>
                <a:ea typeface="Roboto"/>
                <a:cs typeface="Roboto"/>
                <a:sym typeface="Roboto"/>
              </a:rPr>
              <a:t>I </a:t>
            </a:r>
            <a:r>
              <a:rPr b="1" i="0" lang="en-US" sz="1300" u="none" cap="none" strike="noStrike">
                <a:solidFill>
                  <a:srgbClr val="8A9A28"/>
                </a:solidFill>
                <a:latin typeface="Roboto"/>
                <a:ea typeface="Roboto"/>
                <a:cs typeface="Roboto"/>
                <a:sym typeface="Roboto"/>
              </a:rPr>
              <a:t>BUILT</a:t>
            </a:r>
            <a:endParaRPr b="0" i="0" sz="1300" u="none" cap="none" strike="noStrike">
              <a:solidFill>
                <a:schemeClr val="dk1"/>
              </a:solidFill>
              <a:latin typeface="Calibri"/>
              <a:ea typeface="Calibri"/>
              <a:cs typeface="Calibri"/>
              <a:sym typeface="Calibri"/>
            </a:endParaRPr>
          </a:p>
        </p:txBody>
      </p:sp>
      <p:sp>
        <p:nvSpPr>
          <p:cNvPr id="106" name="Google Shape;106;g3f8931b1b28_0_62"/>
          <p:cNvSpPr/>
          <p:nvPr/>
        </p:nvSpPr>
        <p:spPr>
          <a:xfrm>
            <a:off x="640080" y="868680"/>
            <a:ext cx="9601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800"/>
              <a:buFont typeface="Roboto"/>
              <a:buNone/>
            </a:pPr>
            <a:r>
              <a:rPr b="1" i="0" lang="en-US" sz="2800" u="none" cap="none" strike="noStrike">
                <a:solidFill>
                  <a:srgbClr val="2B3538"/>
                </a:solidFill>
                <a:latin typeface="Roboto"/>
                <a:ea typeface="Roboto"/>
                <a:cs typeface="Roboto"/>
                <a:sym typeface="Roboto"/>
              </a:rPr>
              <a:t>Rare notes carry more weight</a:t>
            </a:r>
            <a:endParaRPr b="0" i="0" sz="2800" u="none" cap="none" strike="noStrike">
              <a:solidFill>
                <a:schemeClr val="dk1"/>
              </a:solidFill>
              <a:latin typeface="Calibri"/>
              <a:ea typeface="Calibri"/>
              <a:cs typeface="Calibri"/>
              <a:sym typeface="Calibri"/>
            </a:endParaRPr>
          </a:p>
        </p:txBody>
      </p:sp>
      <p:sp>
        <p:nvSpPr>
          <p:cNvPr id="107" name="Google Shape;107;g3f8931b1b28_0_62"/>
          <p:cNvSpPr/>
          <p:nvPr/>
        </p:nvSpPr>
        <p:spPr>
          <a:xfrm>
            <a:off x="640080" y="1554480"/>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i="1" lang="en-US" sz="1300">
                <a:solidFill>
                  <a:srgbClr val="44555A"/>
                </a:solidFill>
                <a:latin typeface="Roboto"/>
                <a:ea typeface="Roboto"/>
                <a:cs typeface="Roboto"/>
                <a:sym typeface="Roboto"/>
              </a:rPr>
              <a:t>these do the heavy-lifting when it comes to </a:t>
            </a:r>
            <a:r>
              <a:rPr i="1" lang="en-US" sz="1300">
                <a:solidFill>
                  <a:srgbClr val="44555A"/>
                </a:solidFill>
                <a:latin typeface="Roboto"/>
                <a:ea typeface="Roboto"/>
                <a:cs typeface="Roboto"/>
                <a:sym typeface="Roboto"/>
              </a:rPr>
              <a:t>identifying</a:t>
            </a:r>
            <a:r>
              <a:rPr i="1" lang="en-US" sz="1300">
                <a:solidFill>
                  <a:srgbClr val="44555A"/>
                </a:solidFill>
                <a:latin typeface="Roboto"/>
                <a:ea typeface="Roboto"/>
                <a:cs typeface="Roboto"/>
                <a:sym typeface="Roboto"/>
              </a:rPr>
              <a:t> a distinct personal fragrance, so why not prioritise them?</a:t>
            </a:r>
            <a:endParaRPr b="0" i="0" sz="1300" u="none" cap="none" strike="noStrike">
              <a:solidFill>
                <a:schemeClr val="dk1"/>
              </a:solidFill>
              <a:latin typeface="Calibri"/>
              <a:ea typeface="Calibri"/>
              <a:cs typeface="Calibri"/>
              <a:sym typeface="Calibri"/>
            </a:endParaRPr>
          </a:p>
        </p:txBody>
      </p:sp>
      <p:sp>
        <p:nvSpPr>
          <p:cNvPr id="108" name="Google Shape;108;g3f8931b1b28_0_62"/>
          <p:cNvSpPr/>
          <p:nvPr/>
        </p:nvSpPr>
        <p:spPr>
          <a:xfrm>
            <a:off x="11551615" y="640080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04</a:t>
            </a:r>
            <a:endParaRPr b="0" i="0" sz="1000" u="none" cap="none" strike="noStrike">
              <a:solidFill>
                <a:schemeClr val="dk1"/>
              </a:solidFill>
              <a:latin typeface="Calibri"/>
              <a:ea typeface="Calibri"/>
              <a:cs typeface="Calibri"/>
              <a:sym typeface="Calibri"/>
            </a:endParaRPr>
          </a:p>
        </p:txBody>
      </p:sp>
      <p:sp>
        <p:nvSpPr>
          <p:cNvPr id="109" name="Google Shape;109;g3f8931b1b28_0_62"/>
          <p:cNvSpPr/>
          <p:nvPr/>
        </p:nvSpPr>
        <p:spPr>
          <a:xfrm>
            <a:off x="1295405" y="5760610"/>
            <a:ext cx="9601200" cy="640200"/>
          </a:xfrm>
          <a:prstGeom prst="roundRect">
            <a:avLst>
              <a:gd fmla="val 6000" name="adj"/>
            </a:avLst>
          </a:prstGeom>
          <a:solidFill>
            <a:srgbClr val="E0E4E7"/>
          </a:solidFill>
          <a:ln>
            <a:noFill/>
          </a:ln>
        </p:spPr>
        <p:txBody>
          <a:bodyPr anchorCtr="0" anchor="t" bIns="45700" lIns="137150" spcFirstLastPara="1" rIns="137150" wrap="square" tIns="91425">
            <a:noAutofit/>
          </a:bodyPr>
          <a:lstStyle/>
          <a:p>
            <a:pPr indent="0" lvl="0" marL="0" rtl="0" algn="l">
              <a:spcBef>
                <a:spcPts val="0"/>
              </a:spcBef>
              <a:spcAft>
                <a:spcPts val="0"/>
              </a:spcAft>
              <a:buClr>
                <a:schemeClr val="dk1"/>
              </a:buClr>
              <a:buSzPts val="1100"/>
              <a:buFont typeface="Arial"/>
              <a:buNone/>
            </a:pPr>
            <a:r>
              <a:rPr b="1" lang="en-US" sz="1100">
                <a:solidFill>
                  <a:srgbClr val="44555A"/>
                </a:solidFill>
                <a:latin typeface="Roboto"/>
                <a:ea typeface="Roboto"/>
                <a:cs typeface="Roboto"/>
                <a:sym typeface="Roboto"/>
              </a:rPr>
              <a:t>IDF WEIGHT (per note)</a:t>
            </a:r>
            <a:endParaRPr/>
          </a:p>
          <a:p>
            <a:pPr indent="0" lvl="0" marL="0" rtl="0" algn="l">
              <a:spcBef>
                <a:spcPts val="400"/>
              </a:spcBef>
              <a:spcAft>
                <a:spcPts val="0"/>
              </a:spcAft>
              <a:buClr>
                <a:schemeClr val="dk1"/>
              </a:buClr>
              <a:buSzPts val="1500"/>
              <a:buFont typeface="Arial"/>
              <a:buNone/>
            </a:pPr>
            <a:r>
              <a:rPr b="1" lang="en-US" sz="1500">
                <a:solidFill>
                  <a:srgbClr val="2B3538"/>
                </a:solidFill>
                <a:latin typeface="Consolas"/>
                <a:ea typeface="Consolas"/>
                <a:cs typeface="Consolas"/>
                <a:sym typeface="Consolas"/>
              </a:rPr>
              <a:t>idf = log(N / (df + 1)) + 1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114" name="Shape 114"/>
        <p:cNvGrpSpPr/>
        <p:nvPr/>
      </p:nvGrpSpPr>
      <p:grpSpPr>
        <a:xfrm>
          <a:off x="0" y="0"/>
          <a:ext cx="0" cy="0"/>
          <a:chOff x="0" y="0"/>
          <a:chExt cx="0" cy="0"/>
        </a:xfrm>
      </p:grpSpPr>
      <p:sp>
        <p:nvSpPr>
          <p:cNvPr id="115" name="Google Shape;115;p7"/>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HOW</a:t>
            </a:r>
            <a:endParaRPr b="0" i="0" sz="1300" u="none" cap="none" strike="noStrike">
              <a:solidFill>
                <a:schemeClr val="dk1"/>
              </a:solidFill>
              <a:latin typeface="Calibri"/>
              <a:ea typeface="Calibri"/>
              <a:cs typeface="Calibri"/>
              <a:sym typeface="Calibri"/>
            </a:endParaRPr>
          </a:p>
        </p:txBody>
      </p:sp>
      <p:sp>
        <p:nvSpPr>
          <p:cNvPr id="116" name="Google Shape;116;p7"/>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800"/>
              <a:buFont typeface="Roboto"/>
              <a:buNone/>
            </a:pPr>
            <a:r>
              <a:rPr b="1" lang="en-US" sz="2800">
                <a:solidFill>
                  <a:srgbClr val="2B3538"/>
                </a:solidFill>
                <a:latin typeface="Roboto"/>
                <a:ea typeface="Roboto"/>
                <a:cs typeface="Roboto"/>
                <a:sym typeface="Roboto"/>
              </a:rPr>
              <a:t>Quantifying </a:t>
            </a:r>
            <a:r>
              <a:rPr b="1" i="0" lang="en-US" sz="2800" u="none" cap="none" strike="noStrike">
                <a:solidFill>
                  <a:srgbClr val="2B3538"/>
                </a:solidFill>
                <a:latin typeface="Roboto"/>
                <a:ea typeface="Roboto"/>
                <a:cs typeface="Roboto"/>
                <a:sym typeface="Roboto"/>
              </a:rPr>
              <a:t>e</a:t>
            </a:r>
            <a:r>
              <a:rPr b="1" lang="en-US" sz="2800">
                <a:solidFill>
                  <a:srgbClr val="2B3538"/>
                </a:solidFill>
                <a:latin typeface="Roboto"/>
                <a:ea typeface="Roboto"/>
                <a:cs typeface="Roboto"/>
                <a:sym typeface="Roboto"/>
              </a:rPr>
              <a:t>ach</a:t>
            </a:r>
            <a:r>
              <a:rPr b="1" i="0" lang="en-US" sz="2800" u="none" cap="none" strike="noStrike">
                <a:solidFill>
                  <a:srgbClr val="2B3538"/>
                </a:solidFill>
                <a:latin typeface="Roboto"/>
                <a:ea typeface="Roboto"/>
                <a:cs typeface="Roboto"/>
                <a:sym typeface="Roboto"/>
              </a:rPr>
              <a:t> </a:t>
            </a:r>
            <a:r>
              <a:rPr b="1" lang="en-US" sz="2800">
                <a:solidFill>
                  <a:srgbClr val="2B3538"/>
                </a:solidFill>
                <a:latin typeface="Roboto"/>
                <a:ea typeface="Roboto"/>
                <a:cs typeface="Roboto"/>
                <a:sym typeface="Roboto"/>
              </a:rPr>
              <a:t>perfume</a:t>
            </a:r>
            <a:endParaRPr b="0" i="0" sz="2800" u="none" cap="none" strike="noStrike">
              <a:solidFill>
                <a:schemeClr val="dk1"/>
              </a:solidFill>
              <a:latin typeface="Calibri"/>
              <a:ea typeface="Calibri"/>
              <a:cs typeface="Calibri"/>
              <a:sym typeface="Calibri"/>
            </a:endParaRPr>
          </a:p>
        </p:txBody>
      </p:sp>
      <p:sp>
        <p:nvSpPr>
          <p:cNvPr id="117" name="Google Shape;117;p7"/>
          <p:cNvSpPr/>
          <p:nvPr/>
        </p:nvSpPr>
        <p:spPr>
          <a:xfrm>
            <a:off x="1295373" y="2331740"/>
            <a:ext cx="2834700" cy="2194500"/>
          </a:xfrm>
          <a:prstGeom prst="roundRect">
            <a:avLst>
              <a:gd fmla="val 3333" name="adj"/>
            </a:avLst>
          </a:prstGeom>
          <a:solidFill>
            <a:srgbClr val="E0E4E7"/>
          </a:solidFill>
          <a:ln>
            <a:noFill/>
          </a:ln>
          <a:effectLst>
            <a:outerShdw blurRad="76200" rotWithShape="0" algn="bl" dir="5400000" dist="25400">
              <a:srgbClr val="2B3538">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1478253" y="256034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1" i="0" lang="en-US" sz="1300" u="none" cap="none" strike="noStrike">
                <a:solidFill>
                  <a:srgbClr val="44555A"/>
                </a:solidFill>
                <a:latin typeface="Roboto"/>
                <a:ea typeface="Roboto"/>
                <a:cs typeface="Roboto"/>
                <a:sym typeface="Roboto"/>
              </a:rPr>
              <a:t>NOTES</a:t>
            </a:r>
            <a:endParaRPr b="0" i="0" sz="1300" u="none" cap="none" strike="noStrike">
              <a:solidFill>
                <a:schemeClr val="dk1"/>
              </a:solidFill>
              <a:latin typeface="Calibri"/>
              <a:ea typeface="Calibri"/>
              <a:cs typeface="Calibri"/>
              <a:sym typeface="Calibri"/>
            </a:endParaRPr>
          </a:p>
        </p:txBody>
      </p:sp>
      <p:sp>
        <p:nvSpPr>
          <p:cNvPr id="119" name="Google Shape;119;p7"/>
          <p:cNvSpPr/>
          <p:nvPr/>
        </p:nvSpPr>
        <p:spPr>
          <a:xfrm>
            <a:off x="1478253" y="3017540"/>
            <a:ext cx="24690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rare notes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weighted higher</a:t>
            </a:r>
            <a:endParaRPr b="0" i="0" sz="1600" u="none" cap="none" strike="noStrike">
              <a:solidFill>
                <a:schemeClr val="dk1"/>
              </a:solidFill>
              <a:latin typeface="Calibri"/>
              <a:ea typeface="Calibri"/>
              <a:cs typeface="Calibri"/>
              <a:sym typeface="Calibri"/>
            </a:endParaRPr>
          </a:p>
        </p:txBody>
      </p:sp>
      <p:sp>
        <p:nvSpPr>
          <p:cNvPr id="120" name="Google Shape;120;p7"/>
          <p:cNvSpPr/>
          <p:nvPr/>
        </p:nvSpPr>
        <p:spPr>
          <a:xfrm>
            <a:off x="4148301" y="3154700"/>
            <a:ext cx="5121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59A"/>
              </a:buClr>
              <a:buSzPts val="2600"/>
              <a:buFont typeface="Roboto"/>
              <a:buNone/>
            </a:pPr>
            <a:r>
              <a:rPr b="1" i="0" lang="en-US" sz="2600" u="none" cap="none" strike="noStrike">
                <a:solidFill>
                  <a:srgbClr val="8B959A"/>
                </a:solidFill>
                <a:latin typeface="Roboto"/>
                <a:ea typeface="Roboto"/>
                <a:cs typeface="Roboto"/>
                <a:sym typeface="Roboto"/>
              </a:rPr>
              <a:t>→</a:t>
            </a:r>
            <a:endParaRPr b="0" i="0" sz="2600" u="none" cap="none" strike="noStrike">
              <a:solidFill>
                <a:schemeClr val="dk1"/>
              </a:solidFill>
              <a:latin typeface="Calibri"/>
              <a:ea typeface="Calibri"/>
              <a:cs typeface="Calibri"/>
              <a:sym typeface="Calibri"/>
            </a:endParaRPr>
          </a:p>
        </p:txBody>
      </p:sp>
      <p:sp>
        <p:nvSpPr>
          <p:cNvPr id="121" name="Google Shape;121;p7"/>
          <p:cNvSpPr/>
          <p:nvPr/>
        </p:nvSpPr>
        <p:spPr>
          <a:xfrm>
            <a:off x="4678653" y="2331740"/>
            <a:ext cx="2834700" cy="2194500"/>
          </a:xfrm>
          <a:prstGeom prst="roundRect">
            <a:avLst>
              <a:gd fmla="val 3333" name="adj"/>
            </a:avLst>
          </a:prstGeom>
          <a:solidFill>
            <a:srgbClr val="E0E4E7"/>
          </a:solidFill>
          <a:ln>
            <a:noFill/>
          </a:ln>
          <a:effectLst>
            <a:outerShdw blurRad="76200" rotWithShape="0" algn="bl" dir="5400000" dist="25400">
              <a:srgbClr val="2B3538">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4861533" y="256034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1" i="0" lang="en-US" sz="1300" u="none" cap="none" strike="noStrike">
                <a:solidFill>
                  <a:srgbClr val="44555A"/>
                </a:solidFill>
                <a:latin typeface="Roboto"/>
                <a:ea typeface="Roboto"/>
                <a:cs typeface="Roboto"/>
                <a:sym typeface="Roboto"/>
              </a:rPr>
              <a:t>ACCORDS</a:t>
            </a:r>
            <a:endParaRPr b="0" i="0" sz="1300" u="none" cap="none" strike="noStrike">
              <a:solidFill>
                <a:schemeClr val="dk1"/>
              </a:solidFill>
              <a:latin typeface="Calibri"/>
              <a:ea typeface="Calibri"/>
              <a:cs typeface="Calibri"/>
              <a:sym typeface="Calibri"/>
            </a:endParaRPr>
          </a:p>
        </p:txBody>
      </p:sp>
      <p:sp>
        <p:nvSpPr>
          <p:cNvPr id="123" name="Google Shape;123;p7"/>
          <p:cNvSpPr/>
          <p:nvPr/>
        </p:nvSpPr>
        <p:spPr>
          <a:xfrm>
            <a:off x="4861533" y="3017540"/>
            <a:ext cx="24690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scent families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weighted by strength</a:t>
            </a:r>
            <a:endParaRPr b="0" i="0" sz="1600" u="none" cap="none" strike="noStrike">
              <a:solidFill>
                <a:schemeClr val="dk1"/>
              </a:solidFill>
              <a:latin typeface="Calibri"/>
              <a:ea typeface="Calibri"/>
              <a:cs typeface="Calibri"/>
              <a:sym typeface="Calibri"/>
            </a:endParaRPr>
          </a:p>
        </p:txBody>
      </p:sp>
      <p:sp>
        <p:nvSpPr>
          <p:cNvPr id="124" name="Google Shape;124;p7"/>
          <p:cNvSpPr/>
          <p:nvPr/>
        </p:nvSpPr>
        <p:spPr>
          <a:xfrm>
            <a:off x="7531581" y="3154700"/>
            <a:ext cx="5121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59A"/>
              </a:buClr>
              <a:buSzPts val="2600"/>
              <a:buFont typeface="Roboto"/>
              <a:buNone/>
            </a:pPr>
            <a:r>
              <a:rPr b="1" i="0" lang="en-US" sz="2600" u="none" cap="none" strike="noStrike">
                <a:solidFill>
                  <a:srgbClr val="8B959A"/>
                </a:solidFill>
                <a:latin typeface="Roboto"/>
                <a:ea typeface="Roboto"/>
                <a:cs typeface="Roboto"/>
                <a:sym typeface="Roboto"/>
              </a:rPr>
              <a:t>→</a:t>
            </a:r>
            <a:endParaRPr b="0" i="0" sz="2600" u="none" cap="none" strike="noStrike">
              <a:solidFill>
                <a:schemeClr val="dk1"/>
              </a:solidFill>
              <a:latin typeface="Calibri"/>
              <a:ea typeface="Calibri"/>
              <a:cs typeface="Calibri"/>
              <a:sym typeface="Calibri"/>
            </a:endParaRPr>
          </a:p>
        </p:txBody>
      </p:sp>
      <p:sp>
        <p:nvSpPr>
          <p:cNvPr id="125" name="Google Shape;125;p7"/>
          <p:cNvSpPr/>
          <p:nvPr/>
        </p:nvSpPr>
        <p:spPr>
          <a:xfrm>
            <a:off x="8061933" y="2331740"/>
            <a:ext cx="2834700" cy="2194500"/>
          </a:xfrm>
          <a:prstGeom prst="roundRect">
            <a:avLst>
              <a:gd fmla="val 3333" name="adj"/>
            </a:avLst>
          </a:prstGeom>
          <a:solidFill>
            <a:srgbClr val="8A9A28"/>
          </a:solidFill>
          <a:ln>
            <a:noFill/>
          </a:ln>
          <a:effectLst>
            <a:outerShdw blurRad="76200" rotWithShape="0" algn="bl" dir="5400000" dist="25400">
              <a:srgbClr val="2B3538">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8244813" y="2560340"/>
            <a:ext cx="24690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b="1" i="0" lang="en-US" sz="1300" u="none" cap="none" strike="noStrike">
                <a:solidFill>
                  <a:srgbClr val="44555A"/>
                </a:solidFill>
                <a:latin typeface="Roboto"/>
                <a:ea typeface="Roboto"/>
                <a:cs typeface="Roboto"/>
                <a:sym typeface="Roboto"/>
              </a:rPr>
              <a:t>BLEND</a:t>
            </a:r>
            <a:endParaRPr b="0" i="0" sz="1300" u="none" cap="none" strike="noStrike">
              <a:solidFill>
                <a:schemeClr val="dk1"/>
              </a:solidFill>
              <a:latin typeface="Calibri"/>
              <a:ea typeface="Calibri"/>
              <a:cs typeface="Calibri"/>
              <a:sym typeface="Calibri"/>
            </a:endParaRPr>
          </a:p>
        </p:txBody>
      </p:sp>
      <p:sp>
        <p:nvSpPr>
          <p:cNvPr id="127" name="Google Shape;127;p7"/>
          <p:cNvSpPr/>
          <p:nvPr/>
        </p:nvSpPr>
        <p:spPr>
          <a:xfrm>
            <a:off x="8244813" y="3017540"/>
            <a:ext cx="2469000" cy="100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combined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2B3538"/>
              </a:buClr>
              <a:buSzPts val="1600"/>
              <a:buFont typeface="Roboto"/>
              <a:buNone/>
            </a:pPr>
            <a:r>
              <a:rPr b="1" i="0" lang="en-US" sz="1600" u="none" cap="none" strike="noStrike">
                <a:solidFill>
                  <a:srgbClr val="2B3538"/>
                </a:solidFill>
                <a:latin typeface="Roboto"/>
                <a:ea typeface="Roboto"/>
                <a:cs typeface="Roboto"/>
                <a:sym typeface="Roboto"/>
              </a:rPr>
              <a:t>into one score</a:t>
            </a:r>
            <a:endParaRPr b="0" i="0" sz="1600" u="none" cap="none" strike="noStrike">
              <a:solidFill>
                <a:schemeClr val="dk1"/>
              </a:solidFill>
              <a:latin typeface="Calibri"/>
              <a:ea typeface="Calibri"/>
              <a:cs typeface="Calibri"/>
              <a:sym typeface="Calibri"/>
            </a:endParaRPr>
          </a:p>
        </p:txBody>
      </p:sp>
      <p:sp>
        <p:nvSpPr>
          <p:cNvPr id="128" name="Google Shape;128;p7"/>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07</a:t>
            </a:r>
            <a:endParaRPr b="0" i="0" sz="1000" u="none" cap="none" strike="noStrike">
              <a:solidFill>
                <a:schemeClr val="dk1"/>
              </a:solidFill>
              <a:latin typeface="Calibri"/>
              <a:ea typeface="Calibri"/>
              <a:cs typeface="Calibri"/>
              <a:sym typeface="Calibri"/>
            </a:endParaRPr>
          </a:p>
        </p:txBody>
      </p:sp>
      <p:sp>
        <p:nvSpPr>
          <p:cNvPr id="129" name="Google Shape;129;p7"/>
          <p:cNvSpPr/>
          <p:nvPr/>
        </p:nvSpPr>
        <p:spPr>
          <a:xfrm>
            <a:off x="1478250" y="5257825"/>
            <a:ext cx="9235500" cy="822900"/>
          </a:xfrm>
          <a:prstGeom prst="roundRect">
            <a:avLst>
              <a:gd fmla="val 6000" name="adj"/>
            </a:avLst>
          </a:prstGeom>
          <a:solidFill>
            <a:srgbClr val="E0E4E7"/>
          </a:solidFill>
          <a:ln>
            <a:noFill/>
          </a:ln>
        </p:spPr>
        <p:txBody>
          <a:bodyPr anchorCtr="0" anchor="t" bIns="45700" lIns="137150" spcFirstLastPara="1" rIns="137150"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lang="en-US" sz="1100">
                <a:solidFill>
                  <a:srgbClr val="44555A"/>
                </a:solidFill>
                <a:latin typeface="Roboto"/>
                <a:ea typeface="Roboto"/>
                <a:cs typeface="Roboto"/>
                <a:sym typeface="Roboto"/>
              </a:rPr>
              <a:t>COMBINED PERFUME VECTOR</a:t>
            </a:r>
            <a:r>
              <a:rPr b="1" lang="en-US" sz="1100">
                <a:solidFill>
                  <a:srgbClr val="44555A"/>
                </a:solidFill>
                <a:latin typeface="Roboto"/>
                <a:ea typeface="Roboto"/>
                <a:cs typeface="Roboto"/>
                <a:sym typeface="Roboto"/>
              </a:rPr>
              <a:t>	</a:t>
            </a:r>
            <a:endParaRPr/>
          </a:p>
          <a:p>
            <a:pPr indent="0" lvl="0" marL="0" marR="0" rtl="0" algn="l">
              <a:lnSpc>
                <a:spcPct val="100000"/>
              </a:lnSpc>
              <a:spcBef>
                <a:spcPts val="400"/>
              </a:spcBef>
              <a:spcAft>
                <a:spcPts val="0"/>
              </a:spcAft>
              <a:buClr>
                <a:srgbClr val="000000"/>
              </a:buClr>
              <a:buSzPts val="1500"/>
              <a:buFont typeface="Arial"/>
              <a:buNone/>
            </a:pPr>
            <a:r>
              <a:rPr b="1" lang="en-US" sz="1500">
                <a:solidFill>
                  <a:srgbClr val="2B3538"/>
                </a:solidFill>
                <a:latin typeface="Consolas"/>
                <a:ea typeface="Consolas"/>
                <a:cs typeface="Consolas"/>
                <a:sym typeface="Consolas"/>
              </a:rPr>
              <a:t>perfume_score = blend_ratio × note_vector + (1 − blend_ratio) × accord_vector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134" name="Shape 134"/>
        <p:cNvGrpSpPr/>
        <p:nvPr/>
      </p:nvGrpSpPr>
      <p:grpSpPr>
        <a:xfrm>
          <a:off x="0" y="0"/>
          <a:ext cx="0" cy="0"/>
          <a:chOff x="0" y="0"/>
          <a:chExt cx="0" cy="0"/>
        </a:xfrm>
      </p:grpSpPr>
      <p:sp>
        <p:nvSpPr>
          <p:cNvPr id="135" name="Google Shape;135;p8"/>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HOW</a:t>
            </a:r>
            <a:endParaRPr b="0" i="0" sz="1300" u="none" cap="none" strike="noStrike">
              <a:solidFill>
                <a:schemeClr val="dk1"/>
              </a:solidFill>
              <a:latin typeface="Calibri"/>
              <a:ea typeface="Calibri"/>
              <a:cs typeface="Calibri"/>
              <a:sym typeface="Calibri"/>
            </a:endParaRPr>
          </a:p>
        </p:txBody>
      </p:sp>
      <p:sp>
        <p:nvSpPr>
          <p:cNvPr id="136" name="Google Shape;136;p8"/>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800"/>
              <a:buFont typeface="Roboto"/>
              <a:buNone/>
            </a:pPr>
            <a:r>
              <a:rPr b="1" lang="en-US" sz="2800">
                <a:solidFill>
                  <a:srgbClr val="2B3538"/>
                </a:solidFill>
                <a:latin typeface="Roboto"/>
                <a:ea typeface="Roboto"/>
                <a:cs typeface="Roboto"/>
                <a:sym typeface="Roboto"/>
              </a:rPr>
              <a:t>B</a:t>
            </a:r>
            <a:r>
              <a:rPr b="1" i="0" lang="en-US" sz="2800" u="none" cap="none" strike="noStrike">
                <a:solidFill>
                  <a:srgbClr val="2B3538"/>
                </a:solidFill>
                <a:latin typeface="Roboto"/>
                <a:ea typeface="Roboto"/>
                <a:cs typeface="Roboto"/>
                <a:sym typeface="Roboto"/>
              </a:rPr>
              <a:t>lended</a:t>
            </a:r>
            <a:r>
              <a:rPr b="1" lang="en-US" sz="2800">
                <a:solidFill>
                  <a:srgbClr val="2B3538"/>
                </a:solidFill>
                <a:latin typeface="Roboto"/>
                <a:ea typeface="Roboto"/>
                <a:cs typeface="Roboto"/>
                <a:sym typeface="Roboto"/>
              </a:rPr>
              <a:t> by α</a:t>
            </a:r>
            <a:endParaRPr b="0" i="0" sz="2800" u="none" cap="none" strike="noStrike">
              <a:solidFill>
                <a:schemeClr val="dk1"/>
              </a:solidFill>
              <a:latin typeface="Calibri"/>
              <a:ea typeface="Calibri"/>
              <a:cs typeface="Calibri"/>
              <a:sym typeface="Calibri"/>
            </a:endParaRPr>
          </a:p>
        </p:txBody>
      </p:sp>
      <p:sp>
        <p:nvSpPr>
          <p:cNvPr id="137" name="Google Shape;137;p8"/>
          <p:cNvSpPr/>
          <p:nvPr/>
        </p:nvSpPr>
        <p:spPr>
          <a:xfrm>
            <a:off x="640080" y="1485980"/>
            <a:ext cx="9601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4555A"/>
              </a:buClr>
              <a:buSzPts val="1300"/>
              <a:buFont typeface="Roboto"/>
              <a:buNone/>
            </a:pPr>
            <a:r>
              <a:rPr i="1" lang="en-US" sz="1300">
                <a:solidFill>
                  <a:srgbClr val="44555A"/>
                </a:solidFill>
                <a:latin typeface="Roboto"/>
                <a:ea typeface="Roboto"/>
                <a:cs typeface="Roboto"/>
                <a:sym typeface="Roboto"/>
              </a:rPr>
              <a:t>I chose α = 0.5, this chart shows how the combined score changes as α changes from 0 → 1</a:t>
            </a:r>
            <a:endParaRPr b="0" i="0" sz="1300" u="none" cap="none" strike="noStrike">
              <a:solidFill>
                <a:schemeClr val="dk1"/>
              </a:solidFill>
              <a:latin typeface="Calibri"/>
              <a:ea typeface="Calibri"/>
              <a:cs typeface="Calibri"/>
              <a:sym typeface="Calibri"/>
            </a:endParaRPr>
          </a:p>
        </p:txBody>
      </p:sp>
      <p:sp>
        <p:nvSpPr>
          <p:cNvPr id="138" name="Google Shape;138;p8"/>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08</a:t>
            </a:r>
            <a:endParaRPr b="0" i="0" sz="1000" u="none" cap="none" strike="noStrike">
              <a:solidFill>
                <a:schemeClr val="dk1"/>
              </a:solidFill>
              <a:latin typeface="Calibri"/>
              <a:ea typeface="Calibri"/>
              <a:cs typeface="Calibri"/>
              <a:sym typeface="Calibri"/>
            </a:endParaRPr>
          </a:p>
        </p:txBody>
      </p:sp>
      <p:sp>
        <p:nvSpPr>
          <p:cNvPr id="139" name="Google Shape;139;p8"/>
          <p:cNvSpPr/>
          <p:nvPr/>
        </p:nvSpPr>
        <p:spPr>
          <a:xfrm>
            <a:off x="1295405" y="5760610"/>
            <a:ext cx="9601200" cy="640200"/>
          </a:xfrm>
          <a:prstGeom prst="roundRect">
            <a:avLst>
              <a:gd fmla="val 6000" name="adj"/>
            </a:avLst>
          </a:prstGeom>
          <a:solidFill>
            <a:srgbClr val="8A9A28"/>
          </a:solidFill>
          <a:ln>
            <a:noFill/>
          </a:ln>
        </p:spPr>
        <p:txBody>
          <a:bodyPr anchorCtr="0" anchor="t" bIns="45700" lIns="137150" spcFirstLastPara="1" rIns="137150"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rgbClr val="2B3538"/>
                </a:solidFill>
                <a:latin typeface="Roboto"/>
                <a:ea typeface="Roboto"/>
                <a:cs typeface="Roboto"/>
                <a:sym typeface="Roboto"/>
              </a:rPr>
              <a:t>THE BLEND</a:t>
            </a:r>
            <a:endParaRPr/>
          </a:p>
          <a:p>
            <a:pPr indent="0" lvl="0" marL="0" marR="0" rtl="0" algn="l">
              <a:lnSpc>
                <a:spcPct val="100000"/>
              </a:lnSpc>
              <a:spcBef>
                <a:spcPts val="400"/>
              </a:spcBef>
              <a:spcAft>
                <a:spcPts val="0"/>
              </a:spcAft>
              <a:buClr>
                <a:srgbClr val="000000"/>
              </a:buClr>
              <a:buSzPts val="1500"/>
              <a:buFont typeface="Arial"/>
              <a:buNone/>
            </a:pPr>
            <a:r>
              <a:rPr b="1" i="0" lang="en-US" sz="1500" u="none" cap="none" strike="noStrike">
                <a:solidFill>
                  <a:srgbClr val="2B3538"/>
                </a:solidFill>
                <a:latin typeface="Consolas"/>
                <a:ea typeface="Consolas"/>
                <a:cs typeface="Consolas"/>
                <a:sym typeface="Consolas"/>
              </a:rPr>
              <a:t>combined_score = α x notes_s</a:t>
            </a:r>
            <a:r>
              <a:rPr b="1" lang="en-US" sz="1500">
                <a:solidFill>
                  <a:srgbClr val="2B3538"/>
                </a:solidFill>
                <a:latin typeface="Consolas"/>
                <a:ea typeface="Consolas"/>
                <a:cs typeface="Consolas"/>
                <a:sym typeface="Consolas"/>
              </a:rPr>
              <a:t>core</a:t>
            </a:r>
            <a:r>
              <a:rPr b="1" i="0" lang="en-US" sz="1500" u="none" cap="none" strike="noStrike">
                <a:solidFill>
                  <a:srgbClr val="2B3538"/>
                </a:solidFill>
                <a:latin typeface="Consolas"/>
                <a:ea typeface="Consolas"/>
                <a:cs typeface="Consolas"/>
                <a:sym typeface="Consolas"/>
              </a:rPr>
              <a:t> + (1 - α) x perfumes_s</a:t>
            </a:r>
            <a:r>
              <a:rPr b="1" lang="en-US" sz="1500">
                <a:solidFill>
                  <a:srgbClr val="2B3538"/>
                </a:solidFill>
                <a:latin typeface="Consolas"/>
                <a:ea typeface="Consolas"/>
                <a:cs typeface="Consolas"/>
                <a:sym typeface="Consolas"/>
              </a:rPr>
              <a:t>core</a:t>
            </a:r>
            <a:endParaRPr/>
          </a:p>
        </p:txBody>
      </p:sp>
      <p:pic>
        <p:nvPicPr>
          <p:cNvPr id="140" name="Google Shape;140;p8"/>
          <p:cNvPicPr preferRelativeResize="0"/>
          <p:nvPr/>
        </p:nvPicPr>
        <p:blipFill rotWithShape="1">
          <a:blip r:embed="rId3">
            <a:alphaModFix/>
          </a:blip>
          <a:srcRect b="0" l="0" r="0" t="0"/>
          <a:stretch/>
        </p:blipFill>
        <p:spPr>
          <a:xfrm>
            <a:off x="1114405" y="1851670"/>
            <a:ext cx="9601200" cy="3931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729"/>
        </a:solidFill>
      </p:bgPr>
    </p:bg>
    <p:spTree>
      <p:nvGrpSpPr>
        <p:cNvPr id="145" name="Shape 145"/>
        <p:cNvGrpSpPr/>
        <p:nvPr/>
      </p:nvGrpSpPr>
      <p:grpSpPr>
        <a:xfrm>
          <a:off x="0" y="0"/>
          <a:ext cx="0" cy="0"/>
          <a:chOff x="0" y="0"/>
          <a:chExt cx="0" cy="0"/>
        </a:xfrm>
      </p:grpSpPr>
      <p:sp>
        <p:nvSpPr>
          <p:cNvPr id="146" name="Google Shape;146;p9"/>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HOW</a:t>
            </a:r>
            <a:endParaRPr b="0" i="0" sz="1300" u="none" cap="none" strike="noStrike">
              <a:solidFill>
                <a:schemeClr val="dk1"/>
              </a:solidFill>
              <a:latin typeface="Calibri"/>
              <a:ea typeface="Calibri"/>
              <a:cs typeface="Calibri"/>
              <a:sym typeface="Calibri"/>
            </a:endParaRPr>
          </a:p>
        </p:txBody>
      </p:sp>
      <p:sp>
        <p:nvSpPr>
          <p:cNvPr id="147" name="Google Shape;147;p9"/>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2800"/>
              <a:buFont typeface="Roboto"/>
              <a:buNone/>
            </a:pPr>
            <a:r>
              <a:rPr b="1" lang="en-US" sz="2800">
                <a:solidFill>
                  <a:srgbClr val="F6F7F8"/>
                </a:solidFill>
                <a:latin typeface="Roboto"/>
                <a:ea typeface="Roboto"/>
                <a:cs typeface="Roboto"/>
                <a:sym typeface="Roboto"/>
              </a:rPr>
              <a:t>Evaluate as “proof”</a:t>
            </a:r>
            <a:endParaRPr b="0" i="0" sz="2800" u="none" cap="none" strike="noStrike">
              <a:solidFill>
                <a:schemeClr val="dk1"/>
              </a:solidFill>
              <a:latin typeface="Calibri"/>
              <a:ea typeface="Calibri"/>
              <a:cs typeface="Calibri"/>
              <a:sym typeface="Calibri"/>
            </a:endParaRPr>
          </a:p>
        </p:txBody>
      </p:sp>
      <p:sp>
        <p:nvSpPr>
          <p:cNvPr id="148" name="Google Shape;148;p9"/>
          <p:cNvSpPr/>
          <p:nvPr/>
        </p:nvSpPr>
        <p:spPr>
          <a:xfrm>
            <a:off x="640080" y="1554480"/>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400"/>
              <a:buFont typeface="Roboto"/>
              <a:buNone/>
            </a:pPr>
            <a:r>
              <a:rPr i="1" lang="en-US">
                <a:solidFill>
                  <a:srgbClr val="D1D5DB"/>
                </a:solidFill>
                <a:latin typeface="Roboto"/>
                <a:ea typeface="Roboto"/>
                <a:cs typeface="Roboto"/>
                <a:sym typeface="Roboto"/>
              </a:rPr>
              <a:t>except, </a:t>
            </a:r>
            <a:r>
              <a:rPr b="0" i="1" lang="en-US" sz="1400" u="none" cap="none" strike="noStrike">
                <a:solidFill>
                  <a:srgbClr val="D1D5DB"/>
                </a:solidFill>
                <a:latin typeface="Roboto"/>
                <a:ea typeface="Roboto"/>
                <a:cs typeface="Roboto"/>
                <a:sym typeface="Roboto"/>
              </a:rPr>
              <a:t>there's no absolut</a:t>
            </a:r>
            <a:r>
              <a:rPr i="1" lang="en-US">
                <a:solidFill>
                  <a:srgbClr val="D1D5DB"/>
                </a:solidFill>
                <a:latin typeface="Roboto"/>
                <a:ea typeface="Roboto"/>
                <a:cs typeface="Roboto"/>
                <a:sym typeface="Roboto"/>
              </a:rPr>
              <a:t>e </a:t>
            </a:r>
            <a:r>
              <a:rPr b="0" i="1" lang="en-US" sz="1400" u="none" cap="none" strike="noStrike">
                <a:solidFill>
                  <a:srgbClr val="D1D5DB"/>
                </a:solidFill>
                <a:latin typeface="Roboto"/>
                <a:ea typeface="Roboto"/>
                <a:cs typeface="Roboto"/>
                <a:sym typeface="Roboto"/>
              </a:rPr>
              <a:t>answer </a:t>
            </a:r>
            <a:r>
              <a:rPr i="1" lang="en-US">
                <a:solidFill>
                  <a:srgbClr val="D1D5DB"/>
                </a:solidFill>
                <a:latin typeface="Roboto"/>
                <a:ea typeface="Roboto"/>
                <a:cs typeface="Roboto"/>
                <a:sym typeface="Roboto"/>
              </a:rPr>
              <a:t>f</a:t>
            </a:r>
            <a:r>
              <a:rPr b="0" i="1" lang="en-US" sz="1400" u="none" cap="none" strike="noStrike">
                <a:solidFill>
                  <a:srgbClr val="D1D5DB"/>
                </a:solidFill>
                <a:latin typeface="Roboto"/>
                <a:ea typeface="Roboto"/>
                <a:cs typeface="Roboto"/>
                <a:sym typeface="Roboto"/>
              </a:rPr>
              <a:t>or what smells similar</a:t>
            </a:r>
            <a:r>
              <a:rPr i="1" lang="en-US">
                <a:solidFill>
                  <a:srgbClr val="D1D5DB"/>
                </a:solidFill>
                <a:latin typeface="Roboto"/>
                <a:ea typeface="Roboto"/>
                <a:cs typeface="Roboto"/>
                <a:sym typeface="Roboto"/>
              </a:rPr>
              <a:t> - good thing</a:t>
            </a:r>
            <a:r>
              <a:rPr b="0" i="1" lang="en-US" sz="1400" u="none" cap="none" strike="noStrike">
                <a:solidFill>
                  <a:srgbClr val="D1D5DB"/>
                </a:solidFill>
                <a:latin typeface="Roboto"/>
                <a:ea typeface="Roboto"/>
                <a:cs typeface="Roboto"/>
                <a:sym typeface="Roboto"/>
              </a:rPr>
              <a:t> I know </a:t>
            </a:r>
            <a:r>
              <a:rPr i="1" lang="en-US">
                <a:solidFill>
                  <a:srgbClr val="D1D5DB"/>
                </a:solidFill>
                <a:latin typeface="Roboto"/>
                <a:ea typeface="Roboto"/>
                <a:cs typeface="Roboto"/>
                <a:sym typeface="Roboto"/>
              </a:rPr>
              <a:t>myself and my palate &gt;:)</a:t>
            </a:r>
            <a:endParaRPr b="0" i="0" sz="1400" u="none" cap="none" strike="noStrike">
              <a:solidFill>
                <a:schemeClr val="dk1"/>
              </a:solidFill>
              <a:latin typeface="Calibri"/>
              <a:ea typeface="Calibri"/>
              <a:cs typeface="Calibri"/>
              <a:sym typeface="Calibri"/>
            </a:endParaRPr>
          </a:p>
        </p:txBody>
      </p:sp>
      <p:sp>
        <p:nvSpPr>
          <p:cNvPr id="149" name="Google Shape;149;p9"/>
          <p:cNvSpPr/>
          <p:nvPr/>
        </p:nvSpPr>
        <p:spPr>
          <a:xfrm>
            <a:off x="640080" y="2286000"/>
            <a:ext cx="10881360" cy="1737360"/>
          </a:xfrm>
          <a:prstGeom prst="roundRect">
            <a:avLst>
              <a:gd fmla="val 4211" name="adj"/>
            </a:avLst>
          </a:prstGeom>
          <a:solidFill>
            <a:srgbClr val="3D4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9"/>
          <p:cNvSpPr/>
          <p:nvPr/>
        </p:nvSpPr>
        <p:spPr>
          <a:xfrm>
            <a:off x="914400" y="2514600"/>
            <a:ext cx="103327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700"/>
              <a:buFont typeface="Roboto"/>
              <a:buNone/>
            </a:pPr>
            <a:r>
              <a:rPr b="1" i="1" lang="en-US" sz="1700" u="none" cap="none" strike="noStrike">
                <a:solidFill>
                  <a:srgbClr val="F6F7F8"/>
                </a:solidFill>
                <a:latin typeface="Roboto"/>
                <a:ea typeface="Roboto"/>
                <a:cs typeface="Roboto"/>
                <a:sym typeface="Roboto"/>
              </a:rPr>
              <a:t>negative control</a:t>
            </a:r>
            <a:r>
              <a:rPr b="1" i="0" lang="en-US" sz="1700" u="none" cap="none" strike="noStrike">
                <a:solidFill>
                  <a:srgbClr val="F6F7F8"/>
                </a:solidFill>
                <a:latin typeface="Roboto"/>
                <a:ea typeface="Roboto"/>
                <a:cs typeface="Roboto"/>
                <a:sym typeface="Roboto"/>
              </a:rPr>
              <a:t>: Paper− </a:t>
            </a:r>
            <a:endParaRPr b="0" i="0" sz="1700" u="none" cap="none" strike="noStrike">
              <a:solidFill>
                <a:schemeClr val="dk1"/>
              </a:solidFill>
              <a:latin typeface="Calibri"/>
              <a:ea typeface="Calibri"/>
              <a:cs typeface="Calibri"/>
              <a:sym typeface="Calibri"/>
            </a:endParaRPr>
          </a:p>
        </p:txBody>
      </p:sp>
      <p:sp>
        <p:nvSpPr>
          <p:cNvPr id="151" name="Google Shape;151;p9"/>
          <p:cNvSpPr/>
          <p:nvPr/>
        </p:nvSpPr>
        <p:spPr>
          <a:xfrm>
            <a:off x="914400" y="2971800"/>
            <a:ext cx="10332600" cy="822900"/>
          </a:xfrm>
          <a:prstGeom prst="rect">
            <a:avLst/>
          </a:prstGeom>
          <a:noFill/>
          <a:ln>
            <a:noFill/>
          </a:ln>
        </p:spPr>
        <p:txBody>
          <a:bodyPr anchorCtr="0" anchor="ctr" bIns="0" lIns="0" spcFirstLastPara="1" rIns="0" wrap="square" tIns="0">
            <a:noAutofit/>
          </a:bodyPr>
          <a:lstStyle/>
          <a:p>
            <a:pPr indent="-317500" lvl="0" marL="457200" marR="0" rtl="0" algn="l">
              <a:spcBef>
                <a:spcPts val="0"/>
              </a:spcBef>
              <a:spcAft>
                <a:spcPts val="0"/>
              </a:spcAft>
              <a:buClr>
                <a:srgbClr val="E0E4E7"/>
              </a:buClr>
              <a:buSzPts val="1400"/>
              <a:buFont typeface="Roboto"/>
              <a:buChar char="★"/>
            </a:pPr>
            <a:r>
              <a:rPr b="0" i="0" lang="en-US" sz="1400" u="none" cap="none" strike="noStrike">
                <a:solidFill>
                  <a:srgbClr val="E0E4E7"/>
                </a:solidFill>
                <a:latin typeface="Roboto"/>
                <a:ea typeface="Roboto"/>
                <a:cs typeface="Roboto"/>
                <a:sym typeface="Roboto"/>
              </a:rPr>
              <a:t>a fragrance </a:t>
            </a:r>
            <a:r>
              <a:rPr lang="en-US">
                <a:solidFill>
                  <a:srgbClr val="E0E4E7"/>
                </a:solidFill>
                <a:latin typeface="Roboto"/>
                <a:ea typeface="Roboto"/>
                <a:cs typeface="Roboto"/>
                <a:sym typeface="Roboto"/>
              </a:rPr>
              <a:t>I know</a:t>
            </a:r>
            <a:r>
              <a:rPr b="0" i="0" lang="en-US" sz="1400" u="none" cap="none" strike="noStrike">
                <a:solidFill>
                  <a:srgbClr val="E0E4E7"/>
                </a:solidFill>
                <a:latin typeface="Roboto"/>
                <a:ea typeface="Roboto"/>
                <a:cs typeface="Roboto"/>
                <a:sym typeface="Roboto"/>
              </a:rPr>
              <a:t> I don</a:t>
            </a:r>
            <a:r>
              <a:rPr lang="en-US">
                <a:solidFill>
                  <a:srgbClr val="E0E4E7"/>
                </a:solidFill>
                <a:latin typeface="Roboto"/>
                <a:ea typeface="Roboto"/>
                <a:cs typeface="Roboto"/>
                <a:sym typeface="Roboto"/>
              </a:rPr>
              <a:t>’t</a:t>
            </a:r>
            <a:r>
              <a:rPr b="0" i="0" lang="en-US" sz="1400" u="none" cap="none" strike="noStrike">
                <a:solidFill>
                  <a:srgbClr val="E0E4E7"/>
                </a:solidFill>
                <a:latin typeface="Roboto"/>
                <a:ea typeface="Roboto"/>
                <a:cs typeface="Roboto"/>
                <a:sym typeface="Roboto"/>
              </a:rPr>
              <a:t> like </a:t>
            </a:r>
            <a:r>
              <a:rPr lang="en-US">
                <a:solidFill>
                  <a:srgbClr val="E0E4E7"/>
                </a:solidFill>
                <a:latin typeface="Roboto"/>
                <a:ea typeface="Roboto"/>
                <a:cs typeface="Roboto"/>
                <a:sym typeface="Roboto"/>
              </a:rPr>
              <a:t>must </a:t>
            </a:r>
            <a:r>
              <a:rPr b="1" lang="en-US">
                <a:solidFill>
                  <a:srgbClr val="E0E4E7"/>
                </a:solidFill>
                <a:latin typeface="Roboto"/>
                <a:ea typeface="Roboto"/>
                <a:cs typeface="Roboto"/>
                <a:sym typeface="Roboto"/>
              </a:rPr>
              <a:t>never </a:t>
            </a:r>
            <a:r>
              <a:rPr lang="en-US">
                <a:solidFill>
                  <a:srgbClr val="E0E4E7"/>
                </a:solidFill>
                <a:latin typeface="Roboto"/>
                <a:ea typeface="Roboto"/>
                <a:cs typeface="Roboto"/>
                <a:sym typeface="Roboto"/>
              </a:rPr>
              <a:t>appear in a top recommendations list</a:t>
            </a:r>
            <a:endParaRPr>
              <a:solidFill>
                <a:srgbClr val="E0E4E7"/>
              </a:solidFill>
              <a:latin typeface="Roboto"/>
              <a:ea typeface="Roboto"/>
              <a:cs typeface="Roboto"/>
              <a:sym typeface="Roboto"/>
            </a:endParaRPr>
          </a:p>
          <a:p>
            <a:pPr indent="-317500" lvl="1" marL="914400" marR="0" rtl="0" algn="l">
              <a:spcBef>
                <a:spcPts val="0"/>
              </a:spcBef>
              <a:spcAft>
                <a:spcPts val="0"/>
              </a:spcAft>
              <a:buClr>
                <a:srgbClr val="E0E4E7"/>
              </a:buClr>
              <a:buSzPts val="1400"/>
              <a:buFont typeface="Roboto"/>
              <a:buChar char="☆"/>
            </a:pPr>
            <a:r>
              <a:rPr lang="en-US">
                <a:solidFill>
                  <a:srgbClr val="E0E4E7"/>
                </a:solidFill>
                <a:latin typeface="Roboto"/>
                <a:ea typeface="Roboto"/>
                <a:cs typeface="Roboto"/>
                <a:sym typeface="Roboto"/>
              </a:rPr>
              <a:t>a pass/fail sanity check, not a strength measure</a:t>
            </a:r>
            <a:endParaRPr b="0" i="0" sz="1400" u="none" cap="none" strike="noStrike">
              <a:solidFill>
                <a:schemeClr val="dk1"/>
              </a:solidFill>
              <a:latin typeface="Calibri"/>
              <a:ea typeface="Calibri"/>
              <a:cs typeface="Calibri"/>
              <a:sym typeface="Calibri"/>
            </a:endParaRPr>
          </a:p>
        </p:txBody>
      </p:sp>
      <p:sp>
        <p:nvSpPr>
          <p:cNvPr id="152" name="Google Shape;152;p9"/>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09</a:t>
            </a:r>
            <a:endParaRPr b="0" i="0" sz="1000" u="none" cap="none" strike="noStrike">
              <a:solidFill>
                <a:schemeClr val="dk1"/>
              </a:solidFill>
              <a:latin typeface="Calibri"/>
              <a:ea typeface="Calibri"/>
              <a:cs typeface="Calibri"/>
              <a:sym typeface="Calibri"/>
            </a:endParaRPr>
          </a:p>
        </p:txBody>
      </p:sp>
      <p:sp>
        <p:nvSpPr>
          <p:cNvPr id="153" name="Google Shape;153;p9"/>
          <p:cNvSpPr/>
          <p:nvPr/>
        </p:nvSpPr>
        <p:spPr>
          <a:xfrm>
            <a:off x="640080" y="4206240"/>
            <a:ext cx="10881300" cy="1737300"/>
          </a:xfrm>
          <a:prstGeom prst="roundRect">
            <a:avLst>
              <a:gd fmla="val 4211" name="adj"/>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9"/>
          <p:cNvSpPr/>
          <p:nvPr/>
        </p:nvSpPr>
        <p:spPr>
          <a:xfrm>
            <a:off x="914400" y="4434840"/>
            <a:ext cx="10332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729"/>
              </a:buClr>
              <a:buSzPts val="1700"/>
              <a:buFont typeface="Roboto"/>
              <a:buNone/>
            </a:pPr>
            <a:r>
              <a:rPr b="1" lang="en-US" sz="1700">
                <a:solidFill>
                  <a:srgbClr val="1F2729"/>
                </a:solidFill>
                <a:latin typeface="Roboto"/>
                <a:ea typeface="Roboto"/>
                <a:cs typeface="Roboto"/>
                <a:sym typeface="Roboto"/>
              </a:rPr>
              <a:t>note-similarity vs. accord-overlap correlation (</a:t>
            </a:r>
            <a:r>
              <a:rPr b="1" i="1" lang="en-US" sz="1700">
                <a:solidFill>
                  <a:srgbClr val="1F2729"/>
                </a:solidFill>
                <a:latin typeface="Roboto"/>
                <a:ea typeface="Roboto"/>
                <a:cs typeface="Roboto"/>
                <a:sym typeface="Roboto"/>
              </a:rPr>
              <a:t>Pearson r</a:t>
            </a:r>
            <a:r>
              <a:rPr b="1" lang="en-US" sz="1700">
                <a:solidFill>
                  <a:srgbClr val="1F2729"/>
                </a:solidFill>
                <a:latin typeface="Roboto"/>
                <a:ea typeface="Roboto"/>
                <a:cs typeface="Roboto"/>
                <a:sym typeface="Roboto"/>
              </a:rPr>
              <a:t>)</a:t>
            </a:r>
            <a:endParaRPr b="0" i="0" sz="1700" u="none" cap="none" strike="noStrike">
              <a:solidFill>
                <a:srgbClr val="000000"/>
              </a:solidFill>
              <a:latin typeface="Calibri"/>
              <a:ea typeface="Calibri"/>
              <a:cs typeface="Calibri"/>
              <a:sym typeface="Calibri"/>
            </a:endParaRPr>
          </a:p>
        </p:txBody>
      </p:sp>
      <p:sp>
        <p:nvSpPr>
          <p:cNvPr id="155" name="Google Shape;155;p9"/>
          <p:cNvSpPr/>
          <p:nvPr/>
        </p:nvSpPr>
        <p:spPr>
          <a:xfrm>
            <a:off x="914400" y="4892040"/>
            <a:ext cx="10332600" cy="822900"/>
          </a:xfrm>
          <a:prstGeom prst="rect">
            <a:avLst/>
          </a:prstGeom>
          <a:noFill/>
          <a:ln>
            <a:noFill/>
          </a:ln>
        </p:spPr>
        <p:txBody>
          <a:bodyPr anchorCtr="0" anchor="ctr" bIns="0" lIns="0" spcFirstLastPara="1" rIns="0" wrap="square" tIns="0">
            <a:noAutofit/>
          </a:bodyPr>
          <a:lstStyle/>
          <a:p>
            <a:pPr indent="-317500" lvl="0" marL="457200" marR="0" rtl="0" algn="l">
              <a:spcBef>
                <a:spcPts val="0"/>
              </a:spcBef>
              <a:spcAft>
                <a:spcPts val="0"/>
              </a:spcAft>
              <a:buClr>
                <a:srgbClr val="1F2729"/>
              </a:buClr>
              <a:buSzPts val="1400"/>
              <a:buFont typeface="Roboto"/>
              <a:buChar char="★"/>
            </a:pPr>
            <a:r>
              <a:rPr lang="en-US">
                <a:solidFill>
                  <a:srgbClr val="1F2729"/>
                </a:solidFill>
                <a:latin typeface="Roboto"/>
                <a:ea typeface="Roboto"/>
                <a:cs typeface="Roboto"/>
                <a:sym typeface="Roboto"/>
              </a:rPr>
              <a:t>positive correlation with an independently-labelled accord overlap </a:t>
            </a:r>
            <a:endParaRPr>
              <a:solidFill>
                <a:srgbClr val="1F2729"/>
              </a:solidFill>
              <a:latin typeface="Roboto"/>
              <a:ea typeface="Roboto"/>
              <a:cs typeface="Roboto"/>
              <a:sym typeface="Roboto"/>
            </a:endParaRPr>
          </a:p>
          <a:p>
            <a:pPr indent="-317500" lvl="1" marL="914400" marR="0" rtl="0" algn="l">
              <a:spcBef>
                <a:spcPts val="0"/>
              </a:spcBef>
              <a:spcAft>
                <a:spcPts val="0"/>
              </a:spcAft>
              <a:buClr>
                <a:srgbClr val="1F2729"/>
              </a:buClr>
              <a:buSzPts val="1400"/>
              <a:buFont typeface="Roboto"/>
              <a:buChar char="☆"/>
            </a:pPr>
            <a:r>
              <a:rPr lang="en-US">
                <a:solidFill>
                  <a:srgbClr val="1F2729"/>
                </a:solidFill>
                <a:latin typeface="Roboto"/>
                <a:ea typeface="Roboto"/>
                <a:cs typeface="Roboto"/>
                <a:sym typeface="Roboto"/>
              </a:rPr>
              <a:t>from Fragrantica's own tags, not my own similarity logic</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729"/>
        </a:solidFill>
      </p:bgPr>
    </p:bg>
    <p:spTree>
      <p:nvGrpSpPr>
        <p:cNvPr id="160" name="Shape 160"/>
        <p:cNvGrpSpPr/>
        <p:nvPr/>
      </p:nvGrpSpPr>
      <p:grpSpPr>
        <a:xfrm>
          <a:off x="0" y="0"/>
          <a:ext cx="0" cy="0"/>
          <a:chOff x="0" y="0"/>
          <a:chExt cx="0" cy="0"/>
        </a:xfrm>
      </p:grpSpPr>
      <p:sp>
        <p:nvSpPr>
          <p:cNvPr id="161" name="Google Shape;161;p10"/>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LIVE DEMO</a:t>
            </a:r>
            <a:endParaRPr b="0" i="0" sz="1300" u="none" cap="none" strike="noStrike">
              <a:solidFill>
                <a:schemeClr val="dk1"/>
              </a:solidFill>
              <a:latin typeface="Calibri"/>
              <a:ea typeface="Calibri"/>
              <a:cs typeface="Calibri"/>
              <a:sym typeface="Calibri"/>
            </a:endParaRPr>
          </a:p>
        </p:txBody>
      </p:sp>
      <p:sp>
        <p:nvSpPr>
          <p:cNvPr id="162" name="Google Shape;162;p10"/>
          <p:cNvSpPr/>
          <p:nvPr/>
        </p:nvSpPr>
        <p:spPr>
          <a:xfrm>
            <a:off x="640080" y="960120"/>
            <a:ext cx="91440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3400"/>
              <a:buFont typeface="Roboto"/>
              <a:buNone/>
            </a:pPr>
            <a:r>
              <a:rPr b="1" lang="en-US" sz="3400">
                <a:solidFill>
                  <a:srgbClr val="F6F7F8"/>
                </a:solidFill>
                <a:latin typeface="Roboto"/>
                <a:ea typeface="Roboto"/>
                <a:cs typeface="Roboto"/>
                <a:sym typeface="Roboto"/>
              </a:rPr>
              <a:t>Accordly app demo</a:t>
            </a:r>
            <a:endParaRPr b="0" i="0" sz="3400" u="none" cap="none" strike="noStrike">
              <a:solidFill>
                <a:schemeClr val="dk1"/>
              </a:solidFill>
              <a:latin typeface="Calibri"/>
              <a:ea typeface="Calibri"/>
              <a:cs typeface="Calibri"/>
              <a:sym typeface="Calibri"/>
            </a:endParaRPr>
          </a:p>
        </p:txBody>
      </p:sp>
      <p:sp>
        <p:nvSpPr>
          <p:cNvPr id="163" name="Google Shape;163;p10"/>
          <p:cNvSpPr/>
          <p:nvPr/>
        </p:nvSpPr>
        <p:spPr>
          <a:xfrm>
            <a:off x="640080" y="1691640"/>
            <a:ext cx="7315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1D5DB"/>
              </a:buClr>
              <a:buSzPts val="1500"/>
              <a:buFont typeface="Roboto"/>
              <a:buNone/>
            </a:pPr>
            <a:r>
              <a:rPr b="0" i="1" lang="en-US" sz="1500" u="none" cap="none" strike="noStrike">
                <a:solidFill>
                  <a:srgbClr val="D1D5DB"/>
                </a:solidFill>
                <a:latin typeface="Roboto"/>
                <a:ea typeface="Roboto"/>
                <a:cs typeface="Roboto"/>
                <a:sym typeface="Roboto"/>
              </a:rPr>
              <a:t>switch</a:t>
            </a:r>
            <a:r>
              <a:rPr i="1" lang="en-US" sz="1500">
                <a:solidFill>
                  <a:srgbClr val="D1D5DB"/>
                </a:solidFill>
                <a:latin typeface="Roboto"/>
                <a:ea typeface="Roboto"/>
                <a:cs typeface="Roboto"/>
                <a:sym typeface="Roboto"/>
              </a:rPr>
              <a:t>eroo</a:t>
            </a:r>
            <a:endParaRPr b="0" i="0" sz="1500" u="none" cap="none" strike="noStrike">
              <a:solidFill>
                <a:schemeClr val="dk1"/>
              </a:solidFill>
              <a:latin typeface="Calibri"/>
              <a:ea typeface="Calibri"/>
              <a:cs typeface="Calibri"/>
              <a:sym typeface="Calibri"/>
            </a:endParaRPr>
          </a:p>
        </p:txBody>
      </p:sp>
      <p:sp>
        <p:nvSpPr>
          <p:cNvPr id="164" name="Google Shape;164;p10"/>
          <p:cNvSpPr/>
          <p:nvPr/>
        </p:nvSpPr>
        <p:spPr>
          <a:xfrm>
            <a:off x="640080" y="2651760"/>
            <a:ext cx="457200" cy="457200"/>
          </a:xfrm>
          <a:prstGeom prst="ellipse">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0"/>
          <p:cNvSpPr/>
          <p:nvPr/>
        </p:nvSpPr>
        <p:spPr>
          <a:xfrm>
            <a:off x="640080" y="2651760"/>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729"/>
              </a:buClr>
              <a:buSzPts val="1800"/>
              <a:buFont typeface="Roboto"/>
              <a:buNone/>
            </a:pPr>
            <a:r>
              <a:rPr b="1" i="0" lang="en-US" sz="1800" u="none" cap="none" strike="noStrike">
                <a:solidFill>
                  <a:srgbClr val="1F2729"/>
                </a:solidFill>
                <a:latin typeface="Roboto"/>
                <a:ea typeface="Roboto"/>
                <a:cs typeface="Roboto"/>
                <a:sym typeface="Roboto"/>
              </a:rPr>
              <a:t>1</a:t>
            </a:r>
            <a:endParaRPr b="0" i="0" sz="1800" u="none" cap="none" strike="noStrike">
              <a:solidFill>
                <a:schemeClr val="dk1"/>
              </a:solidFill>
              <a:latin typeface="Calibri"/>
              <a:ea typeface="Calibri"/>
              <a:cs typeface="Calibri"/>
              <a:sym typeface="Calibri"/>
            </a:endParaRPr>
          </a:p>
        </p:txBody>
      </p:sp>
      <p:sp>
        <p:nvSpPr>
          <p:cNvPr id="166" name="Google Shape;166;p10"/>
          <p:cNvSpPr/>
          <p:nvPr/>
        </p:nvSpPr>
        <p:spPr>
          <a:xfrm>
            <a:off x="1280160" y="2624328"/>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500"/>
              <a:buFont typeface="Roboto"/>
              <a:buNone/>
            </a:pPr>
            <a:r>
              <a:rPr b="1" i="0" lang="en-US" sz="1500" u="none" cap="none" strike="noStrike">
                <a:solidFill>
                  <a:srgbClr val="F6F7F8"/>
                </a:solidFill>
                <a:latin typeface="Roboto"/>
                <a:ea typeface="Roboto"/>
                <a:cs typeface="Roboto"/>
                <a:sym typeface="Roboto"/>
              </a:rPr>
              <a:t>Libre alone</a:t>
            </a:r>
            <a:endParaRPr b="0" i="0" sz="1500" u="none" cap="none" strike="noStrike">
              <a:solidFill>
                <a:schemeClr val="dk1"/>
              </a:solidFill>
              <a:latin typeface="Calibri"/>
              <a:ea typeface="Calibri"/>
              <a:cs typeface="Calibri"/>
              <a:sym typeface="Calibri"/>
            </a:endParaRPr>
          </a:p>
        </p:txBody>
      </p:sp>
      <p:sp>
        <p:nvSpPr>
          <p:cNvPr id="167" name="Google Shape;167;p10"/>
          <p:cNvSpPr/>
          <p:nvPr/>
        </p:nvSpPr>
        <p:spPr>
          <a:xfrm>
            <a:off x="1280160" y="2944368"/>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250"/>
              <a:buFont typeface="Roboto"/>
              <a:buNone/>
            </a:pPr>
            <a:r>
              <a:rPr b="0" i="0" lang="en-US" sz="1250" u="none" cap="none" strike="noStrike">
                <a:solidFill>
                  <a:srgbClr val="E0E4E7"/>
                </a:solidFill>
                <a:latin typeface="Roboto"/>
                <a:ea typeface="Roboto"/>
                <a:cs typeface="Roboto"/>
                <a:sym typeface="Roboto"/>
              </a:rPr>
              <a:t>top result</a:t>
            </a:r>
            <a:r>
              <a:rPr lang="en-US" sz="1250">
                <a:solidFill>
                  <a:srgbClr val="E0E4E7"/>
                </a:solidFill>
                <a:latin typeface="Roboto"/>
                <a:ea typeface="Roboto"/>
                <a:cs typeface="Roboto"/>
                <a:sym typeface="Roboto"/>
              </a:rPr>
              <a:t> =</a:t>
            </a:r>
            <a:r>
              <a:rPr b="0" i="0" lang="en-US" sz="1250" u="none" cap="none" strike="noStrike">
                <a:solidFill>
                  <a:srgbClr val="E0E4E7"/>
                </a:solidFill>
                <a:latin typeface="Roboto"/>
                <a:ea typeface="Roboto"/>
                <a:cs typeface="Roboto"/>
                <a:sym typeface="Roboto"/>
              </a:rPr>
              <a:t> just a dupe :/ booooring</a:t>
            </a:r>
            <a:endParaRPr b="0" i="0" sz="1250" u="none" cap="none" strike="noStrike">
              <a:solidFill>
                <a:schemeClr val="dk1"/>
              </a:solidFill>
              <a:latin typeface="Calibri"/>
              <a:ea typeface="Calibri"/>
              <a:cs typeface="Calibri"/>
              <a:sym typeface="Calibri"/>
            </a:endParaRPr>
          </a:p>
        </p:txBody>
      </p:sp>
      <p:sp>
        <p:nvSpPr>
          <p:cNvPr id="168" name="Google Shape;168;p10"/>
          <p:cNvSpPr/>
          <p:nvPr/>
        </p:nvSpPr>
        <p:spPr>
          <a:xfrm>
            <a:off x="640080" y="3493008"/>
            <a:ext cx="457200" cy="457200"/>
          </a:xfrm>
          <a:prstGeom prst="ellipse">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0"/>
          <p:cNvSpPr/>
          <p:nvPr/>
        </p:nvSpPr>
        <p:spPr>
          <a:xfrm>
            <a:off x="640080" y="3493008"/>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729"/>
              </a:buClr>
              <a:buSzPts val="1800"/>
              <a:buFont typeface="Roboto"/>
              <a:buNone/>
            </a:pPr>
            <a:r>
              <a:rPr b="1" i="0" lang="en-US" sz="1800" u="none" cap="none" strike="noStrike">
                <a:solidFill>
                  <a:srgbClr val="1F2729"/>
                </a:solidFill>
                <a:latin typeface="Roboto"/>
                <a:ea typeface="Roboto"/>
                <a:cs typeface="Roboto"/>
                <a:sym typeface="Roboto"/>
              </a:rPr>
              <a:t>2</a:t>
            </a:r>
            <a:endParaRPr b="0" i="0" sz="1800" u="none" cap="none" strike="noStrike">
              <a:solidFill>
                <a:schemeClr val="dk1"/>
              </a:solidFill>
              <a:latin typeface="Calibri"/>
              <a:ea typeface="Calibri"/>
              <a:cs typeface="Calibri"/>
              <a:sym typeface="Calibri"/>
            </a:endParaRPr>
          </a:p>
        </p:txBody>
      </p:sp>
      <p:sp>
        <p:nvSpPr>
          <p:cNvPr id="170" name="Google Shape;170;p10"/>
          <p:cNvSpPr/>
          <p:nvPr/>
        </p:nvSpPr>
        <p:spPr>
          <a:xfrm>
            <a:off x="1280160" y="3465576"/>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500"/>
              <a:buFont typeface="Roboto"/>
              <a:buNone/>
            </a:pPr>
            <a:r>
              <a:rPr b="1" i="0" lang="en-US" sz="1500" u="none" cap="none" strike="noStrike">
                <a:solidFill>
                  <a:srgbClr val="F6F7F8"/>
                </a:solidFill>
                <a:latin typeface="Roboto"/>
                <a:ea typeface="Roboto"/>
                <a:cs typeface="Roboto"/>
                <a:sym typeface="Roboto"/>
              </a:rPr>
              <a:t>+ ambrette</a:t>
            </a:r>
            <a:endParaRPr b="0" i="0" sz="1500" u="none" cap="none" strike="noStrike">
              <a:solidFill>
                <a:schemeClr val="dk1"/>
              </a:solidFill>
              <a:latin typeface="Calibri"/>
              <a:ea typeface="Calibri"/>
              <a:cs typeface="Calibri"/>
              <a:sym typeface="Calibri"/>
            </a:endParaRPr>
          </a:p>
        </p:txBody>
      </p:sp>
      <p:sp>
        <p:nvSpPr>
          <p:cNvPr id="171" name="Google Shape;171;p10"/>
          <p:cNvSpPr/>
          <p:nvPr/>
        </p:nvSpPr>
        <p:spPr>
          <a:xfrm>
            <a:off x="1280160" y="3785616"/>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250"/>
              <a:buFont typeface="Roboto"/>
              <a:buNone/>
            </a:pPr>
            <a:r>
              <a:rPr lang="en-US" sz="1250">
                <a:solidFill>
                  <a:srgbClr val="E0E4E7"/>
                </a:solidFill>
                <a:latin typeface="Roboto"/>
                <a:ea typeface="Roboto"/>
                <a:cs typeface="Roboto"/>
                <a:sym typeface="Roboto"/>
              </a:rPr>
              <a:t>diverging individual </a:t>
            </a:r>
            <a:r>
              <a:rPr b="0" i="0" lang="en-US" sz="1250" u="none" cap="none" strike="noStrike">
                <a:solidFill>
                  <a:srgbClr val="E0E4E7"/>
                </a:solidFill>
                <a:latin typeface="Roboto"/>
                <a:ea typeface="Roboto"/>
                <a:cs typeface="Roboto"/>
                <a:sym typeface="Roboto"/>
              </a:rPr>
              <a:t>scores + combined score = completely </a:t>
            </a:r>
            <a:r>
              <a:rPr lang="en-US" sz="1250">
                <a:solidFill>
                  <a:srgbClr val="E0E4E7"/>
                </a:solidFill>
                <a:latin typeface="Roboto"/>
                <a:ea typeface="Roboto"/>
                <a:cs typeface="Roboto"/>
                <a:sym typeface="Roboto"/>
              </a:rPr>
              <a:t>different </a:t>
            </a:r>
            <a:r>
              <a:rPr b="0" i="0" lang="en-US" sz="1250" u="none" cap="none" strike="noStrike">
                <a:solidFill>
                  <a:srgbClr val="E0E4E7"/>
                </a:solidFill>
                <a:latin typeface="Roboto"/>
                <a:ea typeface="Roboto"/>
                <a:cs typeface="Roboto"/>
                <a:sym typeface="Roboto"/>
              </a:rPr>
              <a:t>results :o</a:t>
            </a:r>
            <a:endParaRPr b="0" i="0" sz="1250" u="none" cap="none" strike="noStrike">
              <a:solidFill>
                <a:schemeClr val="dk1"/>
              </a:solidFill>
              <a:latin typeface="Calibri"/>
              <a:ea typeface="Calibri"/>
              <a:cs typeface="Calibri"/>
              <a:sym typeface="Calibri"/>
            </a:endParaRPr>
          </a:p>
        </p:txBody>
      </p:sp>
      <p:sp>
        <p:nvSpPr>
          <p:cNvPr id="172" name="Google Shape;172;p10"/>
          <p:cNvSpPr/>
          <p:nvPr/>
        </p:nvSpPr>
        <p:spPr>
          <a:xfrm>
            <a:off x="640080" y="4334256"/>
            <a:ext cx="457200" cy="457200"/>
          </a:xfrm>
          <a:prstGeom prst="ellipse">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0"/>
          <p:cNvSpPr/>
          <p:nvPr/>
        </p:nvSpPr>
        <p:spPr>
          <a:xfrm>
            <a:off x="640080" y="4334256"/>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729"/>
              </a:buClr>
              <a:buSzPts val="1800"/>
              <a:buFont typeface="Roboto"/>
              <a:buNone/>
            </a:pPr>
            <a:r>
              <a:rPr b="1" i="0" lang="en-US" sz="1800" u="none" cap="none" strike="noStrike">
                <a:solidFill>
                  <a:srgbClr val="1F2729"/>
                </a:solidFill>
                <a:latin typeface="Roboto"/>
                <a:ea typeface="Roboto"/>
                <a:cs typeface="Roboto"/>
                <a:sym typeface="Roboto"/>
              </a:rPr>
              <a:t>3</a:t>
            </a:r>
            <a:endParaRPr b="0" i="0" sz="1800" u="none" cap="none" strike="noStrike">
              <a:solidFill>
                <a:schemeClr val="dk1"/>
              </a:solidFill>
              <a:latin typeface="Calibri"/>
              <a:ea typeface="Calibri"/>
              <a:cs typeface="Calibri"/>
              <a:sym typeface="Calibri"/>
            </a:endParaRPr>
          </a:p>
        </p:txBody>
      </p:sp>
      <p:sp>
        <p:nvSpPr>
          <p:cNvPr id="174" name="Google Shape;174;p10"/>
          <p:cNvSpPr/>
          <p:nvPr/>
        </p:nvSpPr>
        <p:spPr>
          <a:xfrm>
            <a:off x="1280160" y="4306824"/>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500"/>
              <a:buFont typeface="Roboto"/>
              <a:buNone/>
            </a:pPr>
            <a:r>
              <a:rPr b="1" i="0" lang="en-US" sz="1500" u="none" cap="none" strike="noStrike">
                <a:solidFill>
                  <a:srgbClr val="F6F7F8"/>
                </a:solidFill>
                <a:latin typeface="Roboto"/>
                <a:ea typeface="Roboto"/>
                <a:cs typeface="Roboto"/>
                <a:sym typeface="Roboto"/>
              </a:rPr>
              <a:t>+ white woods</a:t>
            </a:r>
            <a:endParaRPr b="0" i="0" sz="1500" u="none" cap="none" strike="noStrike">
              <a:solidFill>
                <a:schemeClr val="dk1"/>
              </a:solidFill>
              <a:latin typeface="Calibri"/>
              <a:ea typeface="Calibri"/>
              <a:cs typeface="Calibri"/>
              <a:sym typeface="Calibri"/>
            </a:endParaRPr>
          </a:p>
        </p:txBody>
      </p:sp>
      <p:sp>
        <p:nvSpPr>
          <p:cNvPr id="175" name="Google Shape;175;p10"/>
          <p:cNvSpPr/>
          <p:nvPr/>
        </p:nvSpPr>
        <p:spPr>
          <a:xfrm>
            <a:off x="1280160" y="4626864"/>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250"/>
              <a:buFont typeface="Roboto"/>
              <a:buNone/>
            </a:pPr>
            <a:r>
              <a:rPr lang="en-US" sz="1250">
                <a:solidFill>
                  <a:srgbClr val="E0E4E7"/>
                </a:solidFill>
                <a:latin typeface="Roboto"/>
                <a:ea typeface="Roboto"/>
                <a:cs typeface="Roboto"/>
                <a:sym typeface="Roboto"/>
              </a:rPr>
              <a:t>1 = notes dominance, 2 = the discovery I crave, 3 = that flipping dupe again D: go awayyyyyy</a:t>
            </a:r>
            <a:endParaRPr b="0" i="0" sz="1250" u="none" cap="none" strike="noStrike">
              <a:solidFill>
                <a:schemeClr val="dk1"/>
              </a:solidFill>
              <a:latin typeface="Calibri"/>
              <a:ea typeface="Calibri"/>
              <a:cs typeface="Calibri"/>
              <a:sym typeface="Calibri"/>
            </a:endParaRPr>
          </a:p>
        </p:txBody>
      </p:sp>
      <p:sp>
        <p:nvSpPr>
          <p:cNvPr id="176" name="Google Shape;176;p10"/>
          <p:cNvSpPr/>
          <p:nvPr/>
        </p:nvSpPr>
        <p:spPr>
          <a:xfrm>
            <a:off x="640080" y="5175504"/>
            <a:ext cx="457200" cy="457200"/>
          </a:xfrm>
          <a:prstGeom prst="ellipse">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0"/>
          <p:cNvSpPr/>
          <p:nvPr/>
        </p:nvSpPr>
        <p:spPr>
          <a:xfrm>
            <a:off x="640080" y="5175504"/>
            <a:ext cx="45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729"/>
              </a:buClr>
              <a:buSzPts val="1800"/>
              <a:buFont typeface="Roboto"/>
              <a:buNone/>
            </a:pPr>
            <a:r>
              <a:rPr b="1" i="0" lang="en-US" sz="1800" u="none" cap="none" strike="noStrike">
                <a:solidFill>
                  <a:srgbClr val="1F2729"/>
                </a:solidFill>
                <a:latin typeface="Roboto"/>
                <a:ea typeface="Roboto"/>
                <a:cs typeface="Roboto"/>
                <a:sym typeface="Roboto"/>
              </a:rPr>
              <a:t>4</a:t>
            </a:r>
            <a:endParaRPr b="0" i="0" sz="1800" u="none" cap="none" strike="noStrike">
              <a:solidFill>
                <a:schemeClr val="dk1"/>
              </a:solidFill>
              <a:latin typeface="Calibri"/>
              <a:ea typeface="Calibri"/>
              <a:cs typeface="Calibri"/>
              <a:sym typeface="Calibri"/>
            </a:endParaRPr>
          </a:p>
        </p:txBody>
      </p:sp>
      <p:sp>
        <p:nvSpPr>
          <p:cNvPr id="178" name="Google Shape;178;p10"/>
          <p:cNvSpPr/>
          <p:nvPr/>
        </p:nvSpPr>
        <p:spPr>
          <a:xfrm>
            <a:off x="1280160" y="5148072"/>
            <a:ext cx="2743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500"/>
              <a:buFont typeface="Roboto"/>
              <a:buNone/>
            </a:pPr>
            <a:r>
              <a:rPr b="1" i="0" lang="en-US" sz="1500" u="none" cap="none" strike="noStrike">
                <a:solidFill>
                  <a:srgbClr val="F6F7F8"/>
                </a:solidFill>
                <a:latin typeface="Roboto"/>
                <a:ea typeface="Roboto"/>
                <a:cs typeface="Roboto"/>
                <a:sym typeface="Roboto"/>
              </a:rPr>
              <a:t>explaine</a:t>
            </a:r>
            <a:r>
              <a:rPr b="1" lang="en-US" sz="1500">
                <a:solidFill>
                  <a:srgbClr val="F6F7F8"/>
                </a:solidFill>
                <a:latin typeface="Roboto"/>
                <a:ea typeface="Roboto"/>
                <a:cs typeface="Roboto"/>
                <a:sym typeface="Roboto"/>
              </a:rPr>
              <a:t>d </a:t>
            </a:r>
            <a:r>
              <a:rPr b="1" i="0" lang="en-US" sz="1500" u="none" cap="none" strike="noStrike">
                <a:solidFill>
                  <a:srgbClr val="F6F7F8"/>
                </a:solidFill>
                <a:latin typeface="Roboto"/>
                <a:ea typeface="Roboto"/>
                <a:cs typeface="Roboto"/>
                <a:sym typeface="Roboto"/>
              </a:rPr>
              <a:t> page</a:t>
            </a:r>
            <a:endParaRPr b="0" i="0" sz="1500" u="none" cap="none" strike="noStrike">
              <a:solidFill>
                <a:schemeClr val="dk1"/>
              </a:solidFill>
              <a:latin typeface="Calibri"/>
              <a:ea typeface="Calibri"/>
              <a:cs typeface="Calibri"/>
              <a:sym typeface="Calibri"/>
            </a:endParaRPr>
          </a:p>
        </p:txBody>
      </p:sp>
      <p:sp>
        <p:nvSpPr>
          <p:cNvPr id="179" name="Google Shape;179;p10"/>
          <p:cNvSpPr/>
          <p:nvPr/>
        </p:nvSpPr>
        <p:spPr>
          <a:xfrm>
            <a:off x="1280160" y="5468112"/>
            <a:ext cx="9601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250"/>
              <a:buFont typeface="Roboto"/>
              <a:buNone/>
            </a:pPr>
            <a:r>
              <a:rPr lang="en-US" sz="1250">
                <a:solidFill>
                  <a:srgbClr val="E0E4E7"/>
                </a:solidFill>
                <a:latin typeface="Roboto"/>
                <a:ea typeface="Roboto"/>
                <a:cs typeface="Roboto"/>
                <a:sym typeface="Roboto"/>
              </a:rPr>
              <a:t>we pray this works to show my hard work</a:t>
            </a:r>
            <a:endParaRPr b="0" i="0" sz="1250" u="none" cap="none" strike="noStrike">
              <a:solidFill>
                <a:schemeClr val="dk1"/>
              </a:solidFill>
              <a:latin typeface="Calibri"/>
              <a:ea typeface="Calibri"/>
              <a:cs typeface="Calibri"/>
              <a:sym typeface="Calibri"/>
            </a:endParaRPr>
          </a:p>
        </p:txBody>
      </p:sp>
      <p:sp>
        <p:nvSpPr>
          <p:cNvPr id="180" name="Google Shape;180;p10"/>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7F8"/>
        </a:solidFill>
      </p:bgPr>
    </p:bg>
    <p:spTree>
      <p:nvGrpSpPr>
        <p:cNvPr id="185" name="Shape 185"/>
        <p:cNvGrpSpPr/>
        <p:nvPr/>
      </p:nvGrpSpPr>
      <p:grpSpPr>
        <a:xfrm>
          <a:off x="0" y="0"/>
          <a:ext cx="0" cy="0"/>
          <a:chOff x="0" y="0"/>
          <a:chExt cx="0" cy="0"/>
        </a:xfrm>
      </p:grpSpPr>
      <p:sp>
        <p:nvSpPr>
          <p:cNvPr id="186" name="Google Shape;186;p11"/>
          <p:cNvSpPr/>
          <p:nvPr/>
        </p:nvSpPr>
        <p:spPr>
          <a:xfrm>
            <a:off x="640080" y="502920"/>
            <a:ext cx="7315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LIMITS</a:t>
            </a:r>
            <a:endParaRPr b="0" i="0" sz="1300" u="none" cap="none" strike="noStrike">
              <a:solidFill>
                <a:schemeClr val="dk1"/>
              </a:solidFill>
              <a:latin typeface="Calibri"/>
              <a:ea typeface="Calibri"/>
              <a:cs typeface="Calibri"/>
              <a:sym typeface="Calibri"/>
            </a:endParaRPr>
          </a:p>
        </p:txBody>
      </p:sp>
      <p:sp>
        <p:nvSpPr>
          <p:cNvPr id="187" name="Google Shape;187;p11"/>
          <p:cNvSpPr/>
          <p:nvPr/>
        </p:nvSpPr>
        <p:spPr>
          <a:xfrm>
            <a:off x="640080" y="868680"/>
            <a:ext cx="96012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2800"/>
              <a:buFont typeface="Roboto"/>
              <a:buNone/>
            </a:pPr>
            <a:r>
              <a:rPr b="1" lang="en-US" sz="2800">
                <a:solidFill>
                  <a:srgbClr val="2B3538"/>
                </a:solidFill>
                <a:latin typeface="Roboto"/>
                <a:ea typeface="Roboto"/>
                <a:cs typeface="Roboto"/>
                <a:sym typeface="Roboto"/>
              </a:rPr>
              <a:t>Ground truths</a:t>
            </a:r>
            <a:endParaRPr b="0" i="0" sz="2800" u="none" cap="none" strike="noStrike">
              <a:solidFill>
                <a:schemeClr val="dk1"/>
              </a:solidFill>
              <a:latin typeface="Calibri"/>
              <a:ea typeface="Calibri"/>
              <a:cs typeface="Calibri"/>
              <a:sym typeface="Calibri"/>
            </a:endParaRPr>
          </a:p>
        </p:txBody>
      </p:sp>
      <p:sp>
        <p:nvSpPr>
          <p:cNvPr id="188" name="Google Shape;188;p11"/>
          <p:cNvSpPr/>
          <p:nvPr/>
        </p:nvSpPr>
        <p:spPr>
          <a:xfrm>
            <a:off x="640080" y="1965960"/>
            <a:ext cx="5120700" cy="3749100"/>
          </a:xfrm>
          <a:prstGeom prst="roundRect">
            <a:avLst>
              <a:gd fmla="val 1951" name="adj"/>
            </a:avLst>
          </a:prstGeom>
          <a:solidFill>
            <a:srgbClr val="E0E4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1"/>
          <p:cNvSpPr/>
          <p:nvPr/>
        </p:nvSpPr>
        <p:spPr>
          <a:xfrm>
            <a:off x="914400" y="224028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B3538"/>
              </a:buClr>
              <a:buSzPts val="1500"/>
              <a:buFont typeface="Roboto"/>
              <a:buNone/>
            </a:pPr>
            <a:r>
              <a:rPr b="1" lang="en-US" sz="1500">
                <a:solidFill>
                  <a:srgbClr val="2B3538"/>
                </a:solidFill>
                <a:latin typeface="Roboto"/>
                <a:ea typeface="Roboto"/>
                <a:cs typeface="Roboto"/>
                <a:sym typeface="Roboto"/>
              </a:rPr>
              <a:t>the circular argument</a:t>
            </a:r>
            <a:endParaRPr b="0" i="0" sz="1500" u="none" cap="none" strike="noStrike">
              <a:solidFill>
                <a:schemeClr val="dk1"/>
              </a:solidFill>
              <a:latin typeface="Calibri"/>
              <a:ea typeface="Calibri"/>
              <a:cs typeface="Calibri"/>
              <a:sym typeface="Calibri"/>
            </a:endParaRPr>
          </a:p>
        </p:txBody>
      </p:sp>
      <p:sp>
        <p:nvSpPr>
          <p:cNvPr id="190" name="Google Shape;190;p11"/>
          <p:cNvSpPr/>
          <p:nvPr/>
        </p:nvSpPr>
        <p:spPr>
          <a:xfrm>
            <a:off x="914400" y="2788920"/>
            <a:ext cx="4572000" cy="1143000"/>
          </a:xfrm>
          <a:prstGeom prst="rect">
            <a:avLst/>
          </a:prstGeom>
          <a:noFill/>
          <a:ln>
            <a:noFill/>
          </a:ln>
        </p:spPr>
        <p:txBody>
          <a:bodyPr anchorCtr="0" anchor="ctr" bIns="0" lIns="0" spcFirstLastPara="1" rIns="0" wrap="square" tIns="0">
            <a:noAutofit/>
          </a:bodyPr>
          <a:lstStyle/>
          <a:p>
            <a:pPr indent="-311150" lvl="0" marL="457200" marR="0" rtl="0" algn="l">
              <a:spcBef>
                <a:spcPts val="0"/>
              </a:spcBef>
              <a:spcAft>
                <a:spcPts val="0"/>
              </a:spcAft>
              <a:buClr>
                <a:srgbClr val="44555A"/>
              </a:buClr>
              <a:buSzPts val="1300"/>
              <a:buFont typeface="Roboto"/>
              <a:buChar char="★"/>
            </a:pPr>
            <a:r>
              <a:rPr b="0" i="0" lang="en-US" sz="1300" u="none" cap="none" strike="noStrike">
                <a:solidFill>
                  <a:srgbClr val="44555A"/>
                </a:solidFill>
                <a:latin typeface="Roboto"/>
                <a:ea typeface="Roboto"/>
                <a:cs typeface="Roboto"/>
                <a:sym typeface="Roboto"/>
              </a:rPr>
              <a:t>tuning alpha against what we already think</a:t>
            </a:r>
            <a:r>
              <a:rPr lang="en-US" sz="1300">
                <a:solidFill>
                  <a:srgbClr val="44555A"/>
                </a:solidFill>
                <a:latin typeface="Roboto"/>
                <a:ea typeface="Roboto"/>
                <a:cs typeface="Roboto"/>
                <a:sym typeface="Roboto"/>
              </a:rPr>
              <a:t> is similar</a:t>
            </a:r>
            <a:endParaRPr sz="1300">
              <a:solidFill>
                <a:srgbClr val="44555A"/>
              </a:solidFill>
              <a:latin typeface="Roboto"/>
              <a:ea typeface="Roboto"/>
              <a:cs typeface="Roboto"/>
              <a:sym typeface="Roboto"/>
            </a:endParaRPr>
          </a:p>
          <a:p>
            <a:pPr indent="-311150" lvl="1" marL="914400" marR="0" rtl="0" algn="l">
              <a:spcBef>
                <a:spcPts val="0"/>
              </a:spcBef>
              <a:spcAft>
                <a:spcPts val="0"/>
              </a:spcAft>
              <a:buClr>
                <a:srgbClr val="44555A"/>
              </a:buClr>
              <a:buSzPts val="1300"/>
              <a:buFont typeface="Roboto"/>
              <a:buChar char="☆"/>
            </a:pPr>
            <a:r>
              <a:rPr b="0" i="0" lang="en-US" sz="1300" u="none" cap="none" strike="noStrike">
                <a:solidFill>
                  <a:srgbClr val="44555A"/>
                </a:solidFill>
                <a:latin typeface="Roboto"/>
                <a:ea typeface="Roboto"/>
                <a:cs typeface="Roboto"/>
                <a:sym typeface="Roboto"/>
              </a:rPr>
              <a:t>the test would </a:t>
            </a:r>
            <a:r>
              <a:rPr lang="en-US" sz="1300">
                <a:solidFill>
                  <a:srgbClr val="44555A"/>
                </a:solidFill>
                <a:latin typeface="Roboto"/>
                <a:ea typeface="Roboto"/>
                <a:cs typeface="Roboto"/>
                <a:sym typeface="Roboto"/>
              </a:rPr>
              <a:t>just </a:t>
            </a:r>
            <a:r>
              <a:rPr b="0" i="0" lang="en-US" sz="1300" u="none" cap="none" strike="noStrike">
                <a:solidFill>
                  <a:srgbClr val="44555A"/>
                </a:solidFill>
                <a:latin typeface="Roboto"/>
                <a:ea typeface="Roboto"/>
                <a:cs typeface="Roboto"/>
                <a:sym typeface="Roboto"/>
              </a:rPr>
              <a:t>confirm what we already believe</a:t>
            </a:r>
            <a:r>
              <a:rPr lang="en-US" sz="1300">
                <a:solidFill>
                  <a:srgbClr val="44555A"/>
                </a:solidFill>
                <a:latin typeface="Roboto"/>
                <a:ea typeface="Roboto"/>
                <a:cs typeface="Roboto"/>
                <a:sym typeface="Roboto"/>
              </a:rPr>
              <a:t> then</a:t>
            </a:r>
            <a:endParaRPr b="0" i="0" sz="1300" u="none" cap="none" strike="noStrike">
              <a:solidFill>
                <a:schemeClr val="dk1"/>
              </a:solidFill>
              <a:latin typeface="Calibri"/>
              <a:ea typeface="Calibri"/>
              <a:cs typeface="Calibri"/>
              <a:sym typeface="Calibri"/>
            </a:endParaRPr>
          </a:p>
        </p:txBody>
      </p:sp>
      <p:sp>
        <p:nvSpPr>
          <p:cNvPr id="191" name="Google Shape;191;p11"/>
          <p:cNvSpPr/>
          <p:nvPr/>
        </p:nvSpPr>
        <p:spPr>
          <a:xfrm>
            <a:off x="914400" y="4023360"/>
            <a:ext cx="4572000" cy="1143000"/>
          </a:xfrm>
          <a:prstGeom prst="rect">
            <a:avLst/>
          </a:prstGeom>
          <a:noFill/>
          <a:ln>
            <a:noFill/>
          </a:ln>
        </p:spPr>
        <p:txBody>
          <a:bodyPr anchorCtr="0" anchor="ctr" bIns="0" lIns="0" spcFirstLastPara="1" rIns="0" wrap="square" tIns="0">
            <a:noAutofit/>
          </a:bodyPr>
          <a:lstStyle/>
          <a:p>
            <a:pPr indent="-311150" lvl="0" marL="457200" marR="0" rtl="0" algn="l">
              <a:spcBef>
                <a:spcPts val="0"/>
              </a:spcBef>
              <a:spcAft>
                <a:spcPts val="0"/>
              </a:spcAft>
              <a:buClr>
                <a:srgbClr val="44555A"/>
              </a:buClr>
              <a:buSzPts val="1300"/>
              <a:buFont typeface="Roboto"/>
              <a:buChar char="★"/>
            </a:pPr>
            <a:r>
              <a:rPr b="0" i="0" lang="en-US" sz="1300" u="none" cap="none" strike="noStrike">
                <a:solidFill>
                  <a:srgbClr val="44555A"/>
                </a:solidFill>
                <a:latin typeface="Roboto"/>
                <a:ea typeface="Roboto"/>
                <a:cs typeface="Roboto"/>
                <a:sym typeface="Roboto"/>
              </a:rPr>
              <a:t>same reason precision at top-k was rejected</a:t>
            </a:r>
            <a:endParaRPr sz="1300">
              <a:solidFill>
                <a:srgbClr val="44555A"/>
              </a:solidFill>
              <a:latin typeface="Roboto"/>
              <a:ea typeface="Roboto"/>
              <a:cs typeface="Roboto"/>
              <a:sym typeface="Roboto"/>
            </a:endParaRPr>
          </a:p>
          <a:p>
            <a:pPr indent="-311150" lvl="1" marL="914400" marR="0" rtl="0" algn="l">
              <a:spcBef>
                <a:spcPts val="0"/>
              </a:spcBef>
              <a:spcAft>
                <a:spcPts val="0"/>
              </a:spcAft>
              <a:buClr>
                <a:srgbClr val="44555A"/>
              </a:buClr>
              <a:buSzPts val="1300"/>
              <a:buFont typeface="Roboto"/>
              <a:buChar char="☆"/>
            </a:pPr>
            <a:r>
              <a:rPr lang="en-US" sz="1300">
                <a:solidFill>
                  <a:srgbClr val="44555A"/>
                </a:solidFill>
                <a:latin typeface="Roboto"/>
                <a:ea typeface="Roboto"/>
                <a:cs typeface="Roboto"/>
                <a:sym typeface="Roboto"/>
              </a:rPr>
              <a:t>it would just prove that my top 10 is… my top 10</a:t>
            </a:r>
            <a:endParaRPr sz="1300">
              <a:solidFill>
                <a:srgbClr val="44555A"/>
              </a:solidFill>
              <a:latin typeface="Roboto"/>
              <a:ea typeface="Roboto"/>
              <a:cs typeface="Roboto"/>
              <a:sym typeface="Roboto"/>
            </a:endParaRPr>
          </a:p>
          <a:p>
            <a:pPr indent="457200" lvl="0" marL="1828800" marR="0" rtl="0" algn="l">
              <a:spcBef>
                <a:spcPts val="0"/>
              </a:spcBef>
              <a:spcAft>
                <a:spcPts val="0"/>
              </a:spcAft>
              <a:buNone/>
            </a:pPr>
            <a:r>
              <a:rPr lang="en-US" sz="1000">
                <a:solidFill>
                  <a:srgbClr val="44555A"/>
                </a:solidFill>
                <a:latin typeface="Roboto"/>
                <a:ea typeface="Roboto"/>
                <a:cs typeface="Roboto"/>
                <a:sym typeface="Roboto"/>
              </a:rPr>
              <a:t>    (I do deserve a pat on the back tbf)</a:t>
            </a:r>
            <a:endParaRPr sz="1000">
              <a:solidFill>
                <a:srgbClr val="44555A"/>
              </a:solidFill>
              <a:latin typeface="Roboto"/>
              <a:ea typeface="Roboto"/>
              <a:cs typeface="Roboto"/>
              <a:sym typeface="Roboto"/>
            </a:endParaRPr>
          </a:p>
        </p:txBody>
      </p:sp>
      <p:sp>
        <p:nvSpPr>
          <p:cNvPr id="192" name="Google Shape;192;p11"/>
          <p:cNvSpPr/>
          <p:nvPr/>
        </p:nvSpPr>
        <p:spPr>
          <a:xfrm>
            <a:off x="6126480" y="1965960"/>
            <a:ext cx="5120700" cy="3749100"/>
          </a:xfrm>
          <a:prstGeom prst="roundRect">
            <a:avLst>
              <a:gd fmla="val 1951" name="adj"/>
            </a:avLst>
          </a:prstGeom>
          <a:solidFill>
            <a:srgbClr val="2B35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a:off x="6400800" y="2240280"/>
            <a:ext cx="45720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500"/>
              <a:buFont typeface="Roboto"/>
              <a:buNone/>
            </a:pPr>
            <a:r>
              <a:rPr b="1" lang="en-US" sz="1500">
                <a:solidFill>
                  <a:srgbClr val="F6F7F8"/>
                </a:solidFill>
                <a:latin typeface="Roboto"/>
                <a:ea typeface="Roboto"/>
                <a:cs typeface="Roboto"/>
                <a:sym typeface="Roboto"/>
              </a:rPr>
              <a:t>the dupes </a:t>
            </a:r>
            <a:r>
              <a:rPr b="1" lang="en-US" sz="1200">
                <a:solidFill>
                  <a:srgbClr val="F6F7F8"/>
                </a:solidFill>
                <a:latin typeface="Roboto"/>
                <a:ea typeface="Roboto"/>
                <a:cs typeface="Roboto"/>
                <a:sym typeface="Roboto"/>
              </a:rPr>
              <a:t>&amp; the dupes of dupes </a:t>
            </a:r>
            <a:r>
              <a:rPr b="1" lang="en-US" sz="800">
                <a:solidFill>
                  <a:srgbClr val="F6F7F8"/>
                </a:solidFill>
                <a:latin typeface="Roboto"/>
                <a:ea typeface="Roboto"/>
                <a:cs typeface="Roboto"/>
                <a:sym typeface="Roboto"/>
              </a:rPr>
              <a:t>&amp; the dupes of dupes of dupes D:</a:t>
            </a:r>
            <a:endParaRPr b="0" i="0" sz="800" u="none" cap="none" strike="noStrike">
              <a:solidFill>
                <a:schemeClr val="dk1"/>
              </a:solidFill>
              <a:latin typeface="Calibri"/>
              <a:ea typeface="Calibri"/>
              <a:cs typeface="Calibri"/>
              <a:sym typeface="Calibri"/>
            </a:endParaRPr>
          </a:p>
        </p:txBody>
      </p:sp>
      <p:sp>
        <p:nvSpPr>
          <p:cNvPr id="194" name="Google Shape;194;p11"/>
          <p:cNvSpPr/>
          <p:nvPr/>
        </p:nvSpPr>
        <p:spPr>
          <a:xfrm>
            <a:off x="6400800" y="2788920"/>
            <a:ext cx="4572000" cy="1143000"/>
          </a:xfrm>
          <a:prstGeom prst="rect">
            <a:avLst/>
          </a:prstGeom>
          <a:noFill/>
          <a:ln>
            <a:noFill/>
          </a:ln>
        </p:spPr>
        <p:txBody>
          <a:bodyPr anchorCtr="0" anchor="ctr" bIns="0" lIns="0" spcFirstLastPara="1" rIns="0" wrap="square" tIns="0">
            <a:noAutofit/>
          </a:bodyPr>
          <a:lstStyle/>
          <a:p>
            <a:pPr indent="-311150" lvl="0" marL="457200" marR="0" rtl="0" algn="l">
              <a:spcBef>
                <a:spcPts val="0"/>
              </a:spcBef>
              <a:spcAft>
                <a:spcPts val="0"/>
              </a:spcAft>
              <a:buClr>
                <a:srgbClr val="E0E4E7"/>
              </a:buClr>
              <a:buSzPts val="1300"/>
              <a:buFont typeface="Roboto"/>
              <a:buChar char="★"/>
            </a:pPr>
            <a:r>
              <a:rPr lang="en-US" sz="1300">
                <a:solidFill>
                  <a:srgbClr val="E0E4E7"/>
                </a:solidFill>
                <a:latin typeface="Roboto"/>
                <a:ea typeface="Roboto"/>
                <a:cs typeface="Roboto"/>
                <a:sym typeface="Roboto"/>
              </a:rPr>
              <a:t>querying a single (well-known) perfume</a:t>
            </a:r>
            <a:endParaRPr sz="1300">
              <a:solidFill>
                <a:srgbClr val="E0E4E7"/>
              </a:solidFill>
              <a:latin typeface="Roboto"/>
              <a:ea typeface="Roboto"/>
              <a:cs typeface="Roboto"/>
              <a:sym typeface="Roboto"/>
            </a:endParaRPr>
          </a:p>
          <a:p>
            <a:pPr indent="-311150" lvl="1" marL="914400" marR="0" rtl="0" algn="l">
              <a:spcBef>
                <a:spcPts val="0"/>
              </a:spcBef>
              <a:spcAft>
                <a:spcPts val="0"/>
              </a:spcAft>
              <a:buClr>
                <a:srgbClr val="E0E4E7"/>
              </a:buClr>
              <a:buSzPts val="1300"/>
              <a:buFont typeface="Roboto"/>
              <a:buChar char="☆"/>
            </a:pPr>
            <a:r>
              <a:rPr lang="en-US" sz="1300">
                <a:solidFill>
                  <a:srgbClr val="E0E4E7"/>
                </a:solidFill>
                <a:latin typeface="Roboto"/>
                <a:ea typeface="Roboto"/>
                <a:cs typeface="Roboto"/>
                <a:sym typeface="Roboto"/>
              </a:rPr>
              <a:t>the clone(-house) war… they win… </a:t>
            </a:r>
            <a:endParaRPr b="0" i="0" sz="1300" u="none" cap="none" strike="noStrike">
              <a:solidFill>
                <a:schemeClr val="dk1"/>
              </a:solidFill>
              <a:latin typeface="Calibri"/>
              <a:ea typeface="Calibri"/>
              <a:cs typeface="Calibri"/>
              <a:sym typeface="Calibri"/>
            </a:endParaRPr>
          </a:p>
        </p:txBody>
      </p:sp>
      <p:sp>
        <p:nvSpPr>
          <p:cNvPr id="195" name="Google Shape;195;p11"/>
          <p:cNvSpPr/>
          <p:nvPr/>
        </p:nvSpPr>
        <p:spPr>
          <a:xfrm>
            <a:off x="6400800" y="4023360"/>
            <a:ext cx="4572000" cy="1143000"/>
          </a:xfrm>
          <a:prstGeom prst="rect">
            <a:avLst/>
          </a:prstGeom>
          <a:noFill/>
          <a:ln>
            <a:noFill/>
          </a:ln>
        </p:spPr>
        <p:txBody>
          <a:bodyPr anchorCtr="0" anchor="ctr" bIns="0" lIns="0" spcFirstLastPara="1" rIns="0" wrap="square" tIns="0">
            <a:noAutofit/>
          </a:bodyPr>
          <a:lstStyle/>
          <a:p>
            <a:pPr indent="-311150" lvl="0" marL="457200" marR="0" rtl="0" algn="l">
              <a:spcBef>
                <a:spcPts val="0"/>
              </a:spcBef>
              <a:spcAft>
                <a:spcPts val="0"/>
              </a:spcAft>
              <a:buClr>
                <a:srgbClr val="E0E4E7"/>
              </a:buClr>
              <a:buSzPts val="1300"/>
              <a:buFont typeface="Roboto"/>
              <a:buChar char="★"/>
            </a:pPr>
            <a:r>
              <a:rPr lang="en-US" sz="1300">
                <a:solidFill>
                  <a:srgbClr val="E0E4E7"/>
                </a:solidFill>
                <a:latin typeface="Roboto"/>
                <a:ea typeface="Roboto"/>
                <a:cs typeface="Roboto"/>
                <a:sym typeface="Roboto"/>
              </a:rPr>
              <a:t>but the clones are dyslexic :o</a:t>
            </a:r>
            <a:endParaRPr sz="1300">
              <a:solidFill>
                <a:srgbClr val="E0E4E7"/>
              </a:solidFill>
              <a:latin typeface="Roboto"/>
              <a:ea typeface="Roboto"/>
              <a:cs typeface="Roboto"/>
              <a:sym typeface="Roboto"/>
            </a:endParaRPr>
          </a:p>
          <a:p>
            <a:pPr indent="-311150" lvl="1" marL="914400" marR="0" rtl="0" algn="l">
              <a:spcBef>
                <a:spcPts val="0"/>
              </a:spcBef>
              <a:spcAft>
                <a:spcPts val="0"/>
              </a:spcAft>
              <a:buClr>
                <a:srgbClr val="E0E4E7"/>
              </a:buClr>
              <a:buSzPts val="1300"/>
              <a:buFont typeface="Roboto"/>
              <a:buChar char="☆"/>
            </a:pPr>
            <a:r>
              <a:rPr lang="en-US" sz="1300">
                <a:solidFill>
                  <a:srgbClr val="E0E4E7"/>
                </a:solidFill>
                <a:latin typeface="Roboto"/>
                <a:ea typeface="Roboto"/>
                <a:cs typeface="Roboto"/>
                <a:sym typeface="Roboto"/>
              </a:rPr>
              <a:t>impossible to merge every spelling quirk or variation</a:t>
            </a:r>
            <a:endParaRPr sz="1300">
              <a:solidFill>
                <a:srgbClr val="E0E4E7"/>
              </a:solidFill>
              <a:latin typeface="Roboto"/>
              <a:ea typeface="Roboto"/>
              <a:cs typeface="Roboto"/>
              <a:sym typeface="Roboto"/>
            </a:endParaRPr>
          </a:p>
        </p:txBody>
      </p:sp>
      <p:sp>
        <p:nvSpPr>
          <p:cNvPr id="196" name="Google Shape;196;p11"/>
          <p:cNvSpPr/>
          <p:nvPr/>
        </p:nvSpPr>
        <p:spPr>
          <a:xfrm>
            <a:off x="11551615" y="640080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729"/>
        </a:solidFill>
      </p:bgPr>
    </p:bg>
    <p:spTree>
      <p:nvGrpSpPr>
        <p:cNvPr id="201" name="Shape 201"/>
        <p:cNvGrpSpPr/>
        <p:nvPr/>
      </p:nvGrpSpPr>
      <p:grpSpPr>
        <a:xfrm>
          <a:off x="0" y="0"/>
          <a:ext cx="0" cy="0"/>
          <a:chOff x="0" y="0"/>
          <a:chExt cx="0" cy="0"/>
        </a:xfrm>
      </p:grpSpPr>
      <p:sp>
        <p:nvSpPr>
          <p:cNvPr id="202" name="Google Shape;202;p12"/>
          <p:cNvSpPr/>
          <p:nvPr/>
        </p:nvSpPr>
        <p:spPr>
          <a:xfrm>
            <a:off x="640080" y="5029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300"/>
              <a:buFont typeface="Roboto"/>
              <a:buNone/>
            </a:pPr>
            <a:r>
              <a:rPr b="1" i="0" lang="en-US" sz="1300" u="none" cap="none" strike="noStrike">
                <a:solidFill>
                  <a:srgbClr val="8A9A28"/>
                </a:solidFill>
                <a:latin typeface="Roboto"/>
                <a:ea typeface="Roboto"/>
                <a:cs typeface="Roboto"/>
                <a:sym typeface="Roboto"/>
              </a:rPr>
              <a:t>NEXT</a:t>
            </a:r>
            <a:endParaRPr b="0" i="0" sz="1300" u="none" cap="none" strike="noStrike">
              <a:solidFill>
                <a:schemeClr val="dk1"/>
              </a:solidFill>
              <a:latin typeface="Calibri"/>
              <a:ea typeface="Calibri"/>
              <a:cs typeface="Calibri"/>
              <a:sym typeface="Calibri"/>
            </a:endParaRPr>
          </a:p>
        </p:txBody>
      </p:sp>
      <p:sp>
        <p:nvSpPr>
          <p:cNvPr id="203" name="Google Shape;203;p12"/>
          <p:cNvSpPr/>
          <p:nvPr/>
        </p:nvSpPr>
        <p:spPr>
          <a:xfrm>
            <a:off x="640080" y="868680"/>
            <a:ext cx="96012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2800"/>
              <a:buFont typeface="Roboto"/>
              <a:buNone/>
            </a:pPr>
            <a:r>
              <a:rPr b="1" lang="en-US" sz="2800">
                <a:solidFill>
                  <a:srgbClr val="F6F7F8"/>
                </a:solidFill>
                <a:latin typeface="Roboto"/>
                <a:ea typeface="Roboto"/>
                <a:cs typeface="Roboto"/>
                <a:sym typeface="Roboto"/>
              </a:rPr>
              <a:t>The dataset ratings, vote counts, &amp; have/want data </a:t>
            </a:r>
            <a:endParaRPr b="0" i="0" sz="2800" u="none" cap="none" strike="noStrike">
              <a:solidFill>
                <a:schemeClr val="dk1"/>
              </a:solidFill>
              <a:latin typeface="Calibri"/>
              <a:ea typeface="Calibri"/>
              <a:cs typeface="Calibri"/>
              <a:sym typeface="Calibri"/>
            </a:endParaRPr>
          </a:p>
        </p:txBody>
      </p:sp>
      <p:sp>
        <p:nvSpPr>
          <p:cNvPr id="204" name="Google Shape;204;p12"/>
          <p:cNvSpPr/>
          <p:nvPr/>
        </p:nvSpPr>
        <p:spPr>
          <a:xfrm>
            <a:off x="640080" y="2103120"/>
            <a:ext cx="10881360" cy="1828800"/>
          </a:xfrm>
          <a:prstGeom prst="roundRect">
            <a:avLst>
              <a:gd fmla="val 4000" name="adj"/>
            </a:avLst>
          </a:prstGeom>
          <a:solidFill>
            <a:srgbClr val="3D4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2"/>
          <p:cNvSpPr/>
          <p:nvPr/>
        </p:nvSpPr>
        <p:spPr>
          <a:xfrm>
            <a:off x="914400" y="2377440"/>
            <a:ext cx="502920" cy="502920"/>
          </a:xfrm>
          <a:prstGeom prst="ellipse">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914400" y="237744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729"/>
              </a:buClr>
              <a:buSzPts val="2000"/>
              <a:buFont typeface="Roboto"/>
              <a:buNone/>
            </a:pPr>
            <a:r>
              <a:rPr b="1" i="0" lang="en-US" sz="2000" u="none" cap="none" strike="noStrike">
                <a:solidFill>
                  <a:srgbClr val="1F2729"/>
                </a:solidFill>
                <a:latin typeface="Roboto"/>
                <a:ea typeface="Roboto"/>
                <a:cs typeface="Roboto"/>
                <a:sym typeface="Roboto"/>
              </a:rPr>
              <a:t>1</a:t>
            </a:r>
            <a:endParaRPr b="0" i="0" sz="2000" u="none" cap="none" strike="noStrike">
              <a:solidFill>
                <a:schemeClr val="dk1"/>
              </a:solidFill>
              <a:latin typeface="Calibri"/>
              <a:ea typeface="Calibri"/>
              <a:cs typeface="Calibri"/>
              <a:sym typeface="Calibri"/>
            </a:endParaRPr>
          </a:p>
        </p:txBody>
      </p:sp>
      <p:sp>
        <p:nvSpPr>
          <p:cNvPr id="207" name="Google Shape;207;p12"/>
          <p:cNvSpPr/>
          <p:nvPr/>
        </p:nvSpPr>
        <p:spPr>
          <a:xfrm>
            <a:off x="1691640" y="2304288"/>
            <a:ext cx="8686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700"/>
              <a:buFont typeface="Roboto"/>
              <a:buNone/>
            </a:pPr>
            <a:r>
              <a:rPr b="1" i="0" lang="en-US" sz="1700" u="none" cap="none" strike="noStrike">
                <a:solidFill>
                  <a:srgbClr val="F6F7F8"/>
                </a:solidFill>
                <a:latin typeface="Roboto"/>
                <a:ea typeface="Roboto"/>
                <a:cs typeface="Roboto"/>
                <a:sym typeface="Roboto"/>
              </a:rPr>
              <a:t>collaborative filtering</a:t>
            </a:r>
            <a:endParaRPr b="0" i="0" sz="1700" u="none" cap="none" strike="noStrike">
              <a:solidFill>
                <a:schemeClr val="dk1"/>
              </a:solidFill>
              <a:latin typeface="Calibri"/>
              <a:ea typeface="Calibri"/>
              <a:cs typeface="Calibri"/>
              <a:sym typeface="Calibri"/>
            </a:endParaRPr>
          </a:p>
        </p:txBody>
      </p:sp>
      <p:sp>
        <p:nvSpPr>
          <p:cNvPr id="208" name="Google Shape;208;p12"/>
          <p:cNvSpPr/>
          <p:nvPr/>
        </p:nvSpPr>
        <p:spPr>
          <a:xfrm>
            <a:off x="1691640" y="2724912"/>
            <a:ext cx="94183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300"/>
              <a:buFont typeface="Roboto"/>
              <a:buNone/>
            </a:pPr>
            <a:r>
              <a:rPr b="0" i="0" lang="en-US" sz="1300" u="none" cap="none" strike="noStrike">
                <a:solidFill>
                  <a:srgbClr val="E0E4E7"/>
                </a:solidFill>
                <a:latin typeface="Roboto"/>
                <a:ea typeface="Roboto"/>
                <a:cs typeface="Roboto"/>
                <a:sym typeface="Roboto"/>
              </a:rPr>
              <a:t>right now everything is composition-based, what a fragrance is made of. collaborative filtering would recommend based on behaviour instead, what people with similar taste also liked. a different paradigm, not attempted this capstone.</a:t>
            </a:r>
            <a:endParaRPr b="0" i="0" sz="1300" u="none" cap="none" strike="noStrike">
              <a:solidFill>
                <a:schemeClr val="dk1"/>
              </a:solidFill>
              <a:latin typeface="Calibri"/>
              <a:ea typeface="Calibri"/>
              <a:cs typeface="Calibri"/>
              <a:sym typeface="Calibri"/>
            </a:endParaRPr>
          </a:p>
        </p:txBody>
      </p:sp>
      <p:sp>
        <p:nvSpPr>
          <p:cNvPr id="209" name="Google Shape;209;p12"/>
          <p:cNvSpPr/>
          <p:nvPr/>
        </p:nvSpPr>
        <p:spPr>
          <a:xfrm>
            <a:off x="640080" y="4251960"/>
            <a:ext cx="10881360" cy="1828800"/>
          </a:xfrm>
          <a:prstGeom prst="roundRect">
            <a:avLst>
              <a:gd fmla="val 4000" name="adj"/>
            </a:avLst>
          </a:prstGeom>
          <a:solidFill>
            <a:srgbClr val="3D4A4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
          <p:cNvSpPr/>
          <p:nvPr/>
        </p:nvSpPr>
        <p:spPr>
          <a:xfrm>
            <a:off x="914400" y="4526280"/>
            <a:ext cx="502920" cy="502920"/>
          </a:xfrm>
          <a:prstGeom prst="ellipse">
            <a:avLst/>
          </a:prstGeom>
          <a:solidFill>
            <a:srgbClr val="8A9A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2"/>
          <p:cNvSpPr/>
          <p:nvPr/>
        </p:nvSpPr>
        <p:spPr>
          <a:xfrm>
            <a:off x="914400" y="452628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2729"/>
              </a:buClr>
              <a:buSzPts val="2000"/>
              <a:buFont typeface="Roboto"/>
              <a:buNone/>
            </a:pPr>
            <a:r>
              <a:rPr b="1" i="0" lang="en-US" sz="2000" u="none" cap="none" strike="noStrike">
                <a:solidFill>
                  <a:srgbClr val="1F2729"/>
                </a:solidFill>
                <a:latin typeface="Roboto"/>
                <a:ea typeface="Roboto"/>
                <a:cs typeface="Roboto"/>
                <a:sym typeface="Roboto"/>
              </a:rPr>
              <a:t>2</a:t>
            </a:r>
            <a:endParaRPr b="0" i="0" sz="2000" u="none" cap="none" strike="noStrike">
              <a:solidFill>
                <a:schemeClr val="dk1"/>
              </a:solidFill>
              <a:latin typeface="Calibri"/>
              <a:ea typeface="Calibri"/>
              <a:cs typeface="Calibri"/>
              <a:sym typeface="Calibri"/>
            </a:endParaRPr>
          </a:p>
        </p:txBody>
      </p:sp>
      <p:sp>
        <p:nvSpPr>
          <p:cNvPr id="212" name="Google Shape;212;p12"/>
          <p:cNvSpPr/>
          <p:nvPr/>
        </p:nvSpPr>
        <p:spPr>
          <a:xfrm>
            <a:off x="1691640" y="4453128"/>
            <a:ext cx="8686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1700"/>
              <a:buFont typeface="Roboto"/>
              <a:buNone/>
            </a:pPr>
            <a:r>
              <a:rPr b="1" i="0" lang="en-US" sz="1700" u="none" cap="none" strike="noStrike">
                <a:solidFill>
                  <a:srgbClr val="F6F7F8"/>
                </a:solidFill>
                <a:latin typeface="Roboto"/>
                <a:ea typeface="Roboto"/>
                <a:cs typeface="Roboto"/>
                <a:sym typeface="Roboto"/>
              </a:rPr>
              <a:t>another plausibility check</a:t>
            </a:r>
            <a:endParaRPr b="0" i="0" sz="1700" u="none" cap="none" strike="noStrike">
              <a:solidFill>
                <a:schemeClr val="dk1"/>
              </a:solidFill>
              <a:latin typeface="Calibri"/>
              <a:ea typeface="Calibri"/>
              <a:cs typeface="Calibri"/>
              <a:sym typeface="Calibri"/>
            </a:endParaRPr>
          </a:p>
        </p:txBody>
      </p:sp>
      <p:sp>
        <p:nvSpPr>
          <p:cNvPr id="213" name="Google Shape;213;p12"/>
          <p:cNvSpPr/>
          <p:nvPr/>
        </p:nvSpPr>
        <p:spPr>
          <a:xfrm>
            <a:off x="1691640" y="4873752"/>
            <a:ext cx="9418320" cy="10515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0E4E7"/>
              </a:buClr>
              <a:buSzPts val="1300"/>
              <a:buFont typeface="Roboto"/>
              <a:buNone/>
            </a:pPr>
            <a:r>
              <a:rPr b="0" i="0" lang="en-US" sz="1300" u="none" cap="none" strike="noStrike">
                <a:solidFill>
                  <a:srgbClr val="E0E4E7"/>
                </a:solidFill>
                <a:latin typeface="Roboto"/>
                <a:ea typeface="Roboto"/>
                <a:cs typeface="Roboto"/>
                <a:sym typeface="Roboto"/>
              </a:rPr>
              <a:t>instead of generating recommendations, that rating and vote data could check them,</a:t>
            </a:r>
            <a:r>
              <a:rPr lang="en-US" sz="1300">
                <a:solidFill>
                  <a:srgbClr val="E0E4E7"/>
                </a:solidFill>
                <a:latin typeface="Roboto"/>
                <a:ea typeface="Roboto"/>
                <a:cs typeface="Roboto"/>
                <a:sym typeface="Roboto"/>
              </a:rPr>
              <a:t>”</a:t>
            </a:r>
            <a:r>
              <a:rPr b="0" i="0" lang="en-US" sz="1300" u="none" cap="none" strike="noStrike">
                <a:solidFill>
                  <a:srgbClr val="E0E4E7"/>
                </a:solidFill>
                <a:latin typeface="Roboto"/>
                <a:ea typeface="Roboto"/>
                <a:cs typeface="Roboto"/>
                <a:sym typeface="Roboto"/>
              </a:rPr>
              <a:t> do top results also share similar ratings or have/want patterns?</a:t>
            </a:r>
            <a:r>
              <a:rPr lang="en-US" sz="1300">
                <a:solidFill>
                  <a:srgbClr val="E0E4E7"/>
                </a:solidFill>
                <a:latin typeface="Roboto"/>
                <a:ea typeface="Roboto"/>
                <a:cs typeface="Roboto"/>
                <a:sym typeface="Roboto"/>
              </a:rPr>
              <a:t>”</a:t>
            </a:r>
            <a:r>
              <a:rPr b="0" i="0" lang="en-US" sz="1300" u="none" cap="none" strike="noStrike">
                <a:solidFill>
                  <a:srgbClr val="E0E4E7"/>
                </a:solidFill>
                <a:latin typeface="Roboto"/>
                <a:ea typeface="Roboto"/>
                <a:cs typeface="Roboto"/>
                <a:sym typeface="Roboto"/>
              </a:rPr>
              <a:t> another form of supporting evidence, alongside the checks already built.</a:t>
            </a:r>
            <a:endParaRPr b="0" i="0" sz="1300" u="none" cap="none" strike="noStrike">
              <a:solidFill>
                <a:schemeClr val="dk1"/>
              </a:solidFill>
              <a:latin typeface="Calibri"/>
              <a:ea typeface="Calibri"/>
              <a:cs typeface="Calibri"/>
              <a:sym typeface="Calibri"/>
            </a:endParaRPr>
          </a:p>
        </p:txBody>
      </p:sp>
      <p:sp>
        <p:nvSpPr>
          <p:cNvPr id="214" name="Google Shape;214;p12"/>
          <p:cNvSpPr/>
          <p:nvPr/>
        </p:nvSpPr>
        <p:spPr>
          <a:xfrm>
            <a:off x="1155161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12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F2729"/>
        </a:solidFill>
      </p:bgPr>
    </p:bg>
    <p:spTree>
      <p:nvGrpSpPr>
        <p:cNvPr id="219" name="Shape 219"/>
        <p:cNvGrpSpPr/>
        <p:nvPr/>
      </p:nvGrpSpPr>
      <p:grpSpPr>
        <a:xfrm>
          <a:off x="0" y="0"/>
          <a:ext cx="0" cy="0"/>
          <a:chOff x="0" y="0"/>
          <a:chExt cx="0" cy="0"/>
        </a:xfrm>
      </p:grpSpPr>
      <p:sp>
        <p:nvSpPr>
          <p:cNvPr id="220" name="Google Shape;220;p13"/>
          <p:cNvSpPr/>
          <p:nvPr/>
        </p:nvSpPr>
        <p:spPr>
          <a:xfrm>
            <a:off x="640080" y="2651760"/>
            <a:ext cx="73152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F7F8"/>
              </a:buClr>
              <a:buSzPts val="4400"/>
              <a:buFont typeface="Roboto"/>
              <a:buNone/>
            </a:pPr>
            <a:r>
              <a:rPr b="1" i="0" lang="en-US" sz="4400" u="none" cap="none" strike="noStrike">
                <a:solidFill>
                  <a:srgbClr val="F6F7F8"/>
                </a:solidFill>
                <a:latin typeface="Roboto"/>
                <a:ea typeface="Roboto"/>
                <a:cs typeface="Roboto"/>
                <a:sym typeface="Roboto"/>
              </a:rPr>
              <a:t>thank you</a:t>
            </a:r>
            <a:endParaRPr b="0" i="0" sz="4400" u="none" cap="none" strike="noStrike">
              <a:solidFill>
                <a:schemeClr val="dk1"/>
              </a:solidFill>
              <a:latin typeface="Calibri"/>
              <a:ea typeface="Calibri"/>
              <a:cs typeface="Calibri"/>
              <a:sym typeface="Calibri"/>
            </a:endParaRPr>
          </a:p>
        </p:txBody>
      </p:sp>
      <p:sp>
        <p:nvSpPr>
          <p:cNvPr id="221" name="Google Shape;221;p13"/>
          <p:cNvSpPr/>
          <p:nvPr/>
        </p:nvSpPr>
        <p:spPr>
          <a:xfrm>
            <a:off x="640080" y="3566160"/>
            <a:ext cx="73152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28"/>
              </a:buClr>
              <a:buSzPts val="1800"/>
              <a:buFont typeface="Roboto"/>
              <a:buNone/>
            </a:pPr>
            <a:r>
              <a:rPr lang="en-US" sz="1800">
                <a:solidFill>
                  <a:srgbClr val="8A9A28"/>
                </a:solidFill>
                <a:latin typeface="Roboto"/>
                <a:ea typeface="Roboto"/>
                <a:cs typeface="Roboto"/>
                <a:sym typeface="Roboto"/>
              </a:rPr>
              <a:t>&lt;3</a:t>
            </a:r>
            <a:endParaRPr b="0" i="0" sz="1800" u="none" cap="none" strike="noStrike">
              <a:solidFill>
                <a:schemeClr val="dk1"/>
              </a:solidFill>
              <a:latin typeface="Calibri"/>
              <a:ea typeface="Calibri"/>
              <a:cs typeface="Calibri"/>
              <a:sym typeface="Calibri"/>
            </a:endParaRPr>
          </a:p>
        </p:txBody>
      </p:sp>
      <p:sp>
        <p:nvSpPr>
          <p:cNvPr id="222" name="Google Shape;222;p13"/>
          <p:cNvSpPr/>
          <p:nvPr/>
        </p:nvSpPr>
        <p:spPr>
          <a:xfrm>
            <a:off x="11551615" y="6400800"/>
            <a:ext cx="4572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59A"/>
              </a:buClr>
              <a:buSzPts val="1000"/>
              <a:buFont typeface="Roboto"/>
              <a:buNone/>
            </a:pPr>
            <a:r>
              <a:rPr b="0" i="0" lang="en-US" sz="1000" u="none" cap="none" strike="noStrike">
                <a:solidFill>
                  <a:srgbClr val="8B959A"/>
                </a:solidFill>
                <a:latin typeface="Roboto"/>
                <a:ea typeface="Roboto"/>
                <a:cs typeface="Roboto"/>
                <a:sym typeface="Roboto"/>
              </a:rPr>
              <a:t>13</a:t>
            </a:r>
            <a:endParaRPr b="0" i="0" sz="1000" u="none" cap="none" strike="noStrike">
              <a:solidFill>
                <a:schemeClr val="dk1"/>
              </a:solidFill>
              <a:latin typeface="Calibri"/>
              <a:ea typeface="Calibri"/>
              <a:cs typeface="Calibri"/>
              <a:sym typeface="Calibri"/>
            </a:endParaRPr>
          </a:p>
        </p:txBody>
      </p:sp>
      <p:sp>
        <p:nvSpPr>
          <p:cNvPr id="223" name="Google Shape;223;p13"/>
          <p:cNvSpPr/>
          <p:nvPr/>
        </p:nvSpPr>
        <p:spPr>
          <a:xfrm>
            <a:off x="6565538" y="4604175"/>
            <a:ext cx="1126200" cy="1381825"/>
          </a:xfrm>
          <a:custGeom>
            <a:rect b="b" l="l" r="r" t="t"/>
            <a:pathLst>
              <a:path extrusionOk="0" h="55273" w="45048">
                <a:moveTo>
                  <a:pt x="10246" y="55273"/>
                </a:moveTo>
                <a:cubicBezTo>
                  <a:pt x="11400" y="42560"/>
                  <a:pt x="13811" y="27409"/>
                  <a:pt x="6152" y="17196"/>
                </a:cubicBezTo>
                <a:cubicBezTo>
                  <a:pt x="5266" y="16015"/>
                  <a:pt x="3733" y="13979"/>
                  <a:pt x="2467" y="14739"/>
                </a:cubicBezTo>
                <a:cubicBezTo>
                  <a:pt x="-4712" y="19049"/>
                  <a:pt x="5704" y="31734"/>
                  <a:pt x="10655" y="38486"/>
                </a:cubicBezTo>
                <a:cubicBezTo>
                  <a:pt x="12257" y="40671"/>
                  <a:pt x="14767" y="47051"/>
                  <a:pt x="15978" y="44628"/>
                </a:cubicBezTo>
                <a:cubicBezTo>
                  <a:pt x="18121" y="40340"/>
                  <a:pt x="12284" y="34409"/>
                  <a:pt x="14750" y="30298"/>
                </a:cubicBezTo>
                <a:cubicBezTo>
                  <a:pt x="15256" y="29454"/>
                  <a:pt x="16740" y="31069"/>
                  <a:pt x="17206" y="31935"/>
                </a:cubicBezTo>
                <a:cubicBezTo>
                  <a:pt x="18797" y="34891"/>
                  <a:pt x="19336" y="38569"/>
                  <a:pt x="21710" y="40943"/>
                </a:cubicBezTo>
                <a:cubicBezTo>
                  <a:pt x="24993" y="44226"/>
                  <a:pt x="20391" y="31574"/>
                  <a:pt x="21301" y="27022"/>
                </a:cubicBezTo>
                <a:cubicBezTo>
                  <a:pt x="21832" y="24366"/>
                  <a:pt x="26585" y="34915"/>
                  <a:pt x="27442" y="32345"/>
                </a:cubicBezTo>
                <a:cubicBezTo>
                  <a:pt x="28824" y="28200"/>
                  <a:pt x="28259" y="21186"/>
                  <a:pt x="24167" y="19652"/>
                </a:cubicBezTo>
                <a:cubicBezTo>
                  <a:pt x="21459" y="18637"/>
                  <a:pt x="18448" y="27366"/>
                  <a:pt x="21301" y="27841"/>
                </a:cubicBezTo>
                <a:cubicBezTo>
                  <a:pt x="26627" y="28728"/>
                  <a:pt x="21676" y="13361"/>
                  <a:pt x="27033" y="12692"/>
                </a:cubicBezTo>
                <a:cubicBezTo>
                  <a:pt x="30960" y="12202"/>
                  <a:pt x="33147" y="17919"/>
                  <a:pt x="35221" y="21290"/>
                </a:cubicBezTo>
                <a:cubicBezTo>
                  <a:pt x="36180" y="22850"/>
                  <a:pt x="39509" y="26203"/>
                  <a:pt x="37678" y="26203"/>
                </a:cubicBezTo>
                <a:cubicBezTo>
                  <a:pt x="34563" y="26203"/>
                  <a:pt x="34525" y="20822"/>
                  <a:pt x="33174" y="18015"/>
                </a:cubicBezTo>
                <a:cubicBezTo>
                  <a:pt x="31315" y="14154"/>
                  <a:pt x="26969" y="6361"/>
                  <a:pt x="31127" y="5322"/>
                </a:cubicBezTo>
                <a:cubicBezTo>
                  <a:pt x="35440" y="4244"/>
                  <a:pt x="36016" y="13641"/>
                  <a:pt x="35221" y="18015"/>
                </a:cubicBezTo>
                <a:cubicBezTo>
                  <a:pt x="35035" y="19038"/>
                  <a:pt x="34979" y="21210"/>
                  <a:pt x="33993" y="20881"/>
                </a:cubicBezTo>
                <a:cubicBezTo>
                  <a:pt x="31250" y="19965"/>
                  <a:pt x="35255" y="15098"/>
                  <a:pt x="36859" y="12692"/>
                </a:cubicBezTo>
                <a:cubicBezTo>
                  <a:pt x="39056" y="9397"/>
                  <a:pt x="40068" y="3619"/>
                  <a:pt x="37268" y="819"/>
                </a:cubicBezTo>
                <a:cubicBezTo>
                  <a:pt x="36566" y="117"/>
                  <a:pt x="34512" y="650"/>
                  <a:pt x="34402" y="1637"/>
                </a:cubicBezTo>
                <a:cubicBezTo>
                  <a:pt x="34034" y="4949"/>
                  <a:pt x="36930" y="8911"/>
                  <a:pt x="40134" y="9826"/>
                </a:cubicBezTo>
                <a:cubicBezTo>
                  <a:pt x="43655" y="10832"/>
                  <a:pt x="44593" y="3634"/>
                  <a:pt x="45048" y="0"/>
                </a:cubicBezTo>
              </a:path>
            </a:pathLst>
          </a:custGeom>
          <a:noFill/>
          <a:ln cap="flat" cmpd="sng" w="38100">
            <a:solidFill>
              <a:srgbClr val="8A9A28"/>
            </a:solidFill>
            <a:prstDash val="solid"/>
            <a:round/>
            <a:headEnd len="med" w="med" type="none"/>
            <a:tailEnd len="med" w="med" type="none"/>
          </a:ln>
        </p:spPr>
      </p:sp>
      <p:sp>
        <p:nvSpPr>
          <p:cNvPr id="224" name="Google Shape;224;p13"/>
          <p:cNvSpPr/>
          <p:nvPr/>
        </p:nvSpPr>
        <p:spPr>
          <a:xfrm>
            <a:off x="7864546" y="3299077"/>
            <a:ext cx="779100" cy="1305100"/>
          </a:xfrm>
          <a:custGeom>
            <a:rect b="b" l="l" r="r" t="t"/>
            <a:pathLst>
              <a:path extrusionOk="0" h="52204" w="31164">
                <a:moveTo>
                  <a:pt x="2504" y="44425"/>
                </a:moveTo>
                <a:cubicBezTo>
                  <a:pt x="2504" y="40594"/>
                  <a:pt x="2161" y="36762"/>
                  <a:pt x="1685" y="32961"/>
                </a:cubicBezTo>
                <a:cubicBezTo>
                  <a:pt x="1492" y="31417"/>
                  <a:pt x="-935" y="27762"/>
                  <a:pt x="457" y="28458"/>
                </a:cubicBezTo>
                <a:cubicBezTo>
                  <a:pt x="2271" y="29365"/>
                  <a:pt x="2992" y="31662"/>
                  <a:pt x="4551" y="32961"/>
                </a:cubicBezTo>
                <a:cubicBezTo>
                  <a:pt x="6689" y="34743"/>
                  <a:pt x="6646" y="27519"/>
                  <a:pt x="6189" y="24773"/>
                </a:cubicBezTo>
                <a:cubicBezTo>
                  <a:pt x="6053" y="23954"/>
                  <a:pt x="4992" y="22054"/>
                  <a:pt x="5780" y="22316"/>
                </a:cubicBezTo>
                <a:cubicBezTo>
                  <a:pt x="10090" y="23751"/>
                  <a:pt x="11269" y="29644"/>
                  <a:pt x="13149" y="33780"/>
                </a:cubicBezTo>
                <a:cubicBezTo>
                  <a:pt x="15706" y="39406"/>
                  <a:pt x="21376" y="52205"/>
                  <a:pt x="15197" y="52205"/>
                </a:cubicBezTo>
                <a:cubicBezTo>
                  <a:pt x="13417" y="52205"/>
                  <a:pt x="12763" y="49427"/>
                  <a:pt x="12331" y="47701"/>
                </a:cubicBezTo>
                <a:cubicBezTo>
                  <a:pt x="10609" y="40811"/>
                  <a:pt x="11755" y="33374"/>
                  <a:pt x="13149" y="26410"/>
                </a:cubicBezTo>
                <a:cubicBezTo>
                  <a:pt x="13434" y="24987"/>
                  <a:pt x="15181" y="28530"/>
                  <a:pt x="16425" y="29276"/>
                </a:cubicBezTo>
                <a:cubicBezTo>
                  <a:pt x="17432" y="29880"/>
                  <a:pt x="18890" y="28332"/>
                  <a:pt x="19291" y="27229"/>
                </a:cubicBezTo>
                <a:cubicBezTo>
                  <a:pt x="20592" y="23652"/>
                  <a:pt x="18762" y="19180"/>
                  <a:pt x="16425" y="16175"/>
                </a:cubicBezTo>
                <a:cubicBezTo>
                  <a:pt x="15336" y="14774"/>
                  <a:pt x="12356" y="14920"/>
                  <a:pt x="11102" y="16175"/>
                </a:cubicBezTo>
                <a:cubicBezTo>
                  <a:pt x="9762" y="17516"/>
                  <a:pt x="12236" y="21858"/>
                  <a:pt x="13968" y="21088"/>
                </a:cubicBezTo>
                <a:cubicBezTo>
                  <a:pt x="17261" y="19624"/>
                  <a:pt x="18075" y="14842"/>
                  <a:pt x="18472" y="11261"/>
                </a:cubicBezTo>
                <a:cubicBezTo>
                  <a:pt x="18511" y="10910"/>
                  <a:pt x="17475" y="4943"/>
                  <a:pt x="18472" y="5939"/>
                </a:cubicBezTo>
                <a:cubicBezTo>
                  <a:pt x="20750" y="8216"/>
                  <a:pt x="21926" y="15996"/>
                  <a:pt x="24204" y="13718"/>
                </a:cubicBezTo>
                <a:cubicBezTo>
                  <a:pt x="26922" y="11000"/>
                  <a:pt x="25706" y="6087"/>
                  <a:pt x="25432" y="2254"/>
                </a:cubicBezTo>
                <a:cubicBezTo>
                  <a:pt x="25359" y="1233"/>
                  <a:pt x="24707" y="-516"/>
                  <a:pt x="25432" y="207"/>
                </a:cubicBezTo>
                <a:cubicBezTo>
                  <a:pt x="27729" y="2498"/>
                  <a:pt x="25917" y="8681"/>
                  <a:pt x="29117" y="9214"/>
                </a:cubicBezTo>
                <a:cubicBezTo>
                  <a:pt x="30387" y="9425"/>
                  <a:pt x="30588" y="7090"/>
                  <a:pt x="31164" y="5939"/>
                </a:cubicBezTo>
              </a:path>
            </a:pathLst>
          </a:custGeom>
          <a:noFill/>
          <a:ln cap="flat" cmpd="sng" w="38100">
            <a:solidFill>
              <a:srgbClr val="8A9A28"/>
            </a:solidFill>
            <a:prstDash val="solid"/>
            <a:round/>
            <a:headEnd len="med" w="med" type="none"/>
            <a:tailEnd len="med" w="med" type="none"/>
          </a:ln>
        </p:spPr>
      </p:sp>
      <p:sp>
        <p:nvSpPr>
          <p:cNvPr id="225" name="Google Shape;225;p13"/>
          <p:cNvSpPr/>
          <p:nvPr/>
        </p:nvSpPr>
        <p:spPr>
          <a:xfrm>
            <a:off x="8785028" y="1779075"/>
            <a:ext cx="1120725" cy="1366900"/>
          </a:xfrm>
          <a:custGeom>
            <a:rect b="b" l="l" r="r" t="t"/>
            <a:pathLst>
              <a:path extrusionOk="0" h="54676" w="44829">
                <a:moveTo>
                  <a:pt x="2657" y="45447"/>
                </a:moveTo>
                <a:cubicBezTo>
                  <a:pt x="-780" y="46307"/>
                  <a:pt x="8884" y="36332"/>
                  <a:pt x="5523" y="35212"/>
                </a:cubicBezTo>
                <a:cubicBezTo>
                  <a:pt x="3476" y="34530"/>
                  <a:pt x="-602" y="36893"/>
                  <a:pt x="200" y="38896"/>
                </a:cubicBezTo>
                <a:cubicBezTo>
                  <a:pt x="1610" y="42419"/>
                  <a:pt x="7365" y="42540"/>
                  <a:pt x="9208" y="45857"/>
                </a:cubicBezTo>
                <a:cubicBezTo>
                  <a:pt x="10779" y="48685"/>
                  <a:pt x="7815" y="55343"/>
                  <a:pt x="4704" y="54455"/>
                </a:cubicBezTo>
                <a:cubicBezTo>
                  <a:pt x="-200" y="53055"/>
                  <a:pt x="4556" y="36886"/>
                  <a:pt x="8799" y="39715"/>
                </a:cubicBezTo>
                <a:cubicBezTo>
                  <a:pt x="10576" y="40900"/>
                  <a:pt x="11400" y="43327"/>
                  <a:pt x="11665" y="45447"/>
                </a:cubicBezTo>
                <a:cubicBezTo>
                  <a:pt x="11768" y="46271"/>
                  <a:pt x="11842" y="48491"/>
                  <a:pt x="11255" y="47904"/>
                </a:cubicBezTo>
                <a:cubicBezTo>
                  <a:pt x="8773" y="45423"/>
                  <a:pt x="6607" y="40408"/>
                  <a:pt x="8799" y="37668"/>
                </a:cubicBezTo>
                <a:cubicBezTo>
                  <a:pt x="10324" y="35762"/>
                  <a:pt x="13996" y="42976"/>
                  <a:pt x="15349" y="40944"/>
                </a:cubicBezTo>
                <a:cubicBezTo>
                  <a:pt x="16408" y="39353"/>
                  <a:pt x="13640" y="36066"/>
                  <a:pt x="15349" y="35212"/>
                </a:cubicBezTo>
                <a:cubicBezTo>
                  <a:pt x="17151" y="34311"/>
                  <a:pt x="18696" y="38473"/>
                  <a:pt x="20672" y="38078"/>
                </a:cubicBezTo>
                <a:cubicBezTo>
                  <a:pt x="24742" y="37265"/>
                  <a:pt x="22479" y="24253"/>
                  <a:pt x="18625" y="25795"/>
                </a:cubicBezTo>
                <a:cubicBezTo>
                  <a:pt x="16136" y="26791"/>
                  <a:pt x="18197" y="32543"/>
                  <a:pt x="20672" y="33574"/>
                </a:cubicBezTo>
                <a:cubicBezTo>
                  <a:pt x="22109" y="34173"/>
                  <a:pt x="24076" y="33445"/>
                  <a:pt x="25176" y="32345"/>
                </a:cubicBezTo>
                <a:cubicBezTo>
                  <a:pt x="28413" y="29108"/>
                  <a:pt x="28890" y="23235"/>
                  <a:pt x="27632" y="18834"/>
                </a:cubicBezTo>
                <a:cubicBezTo>
                  <a:pt x="26961" y="16487"/>
                  <a:pt x="25349" y="10052"/>
                  <a:pt x="24357" y="12283"/>
                </a:cubicBezTo>
                <a:cubicBezTo>
                  <a:pt x="22319" y="16869"/>
                  <a:pt x="25129" y="25441"/>
                  <a:pt x="30089" y="26204"/>
                </a:cubicBezTo>
                <a:cubicBezTo>
                  <a:pt x="36763" y="27231"/>
                  <a:pt x="36968" y="13011"/>
                  <a:pt x="35002" y="6551"/>
                </a:cubicBezTo>
                <a:cubicBezTo>
                  <a:pt x="34308" y="4271"/>
                  <a:pt x="34519" y="0"/>
                  <a:pt x="32136" y="0"/>
                </a:cubicBezTo>
                <a:cubicBezTo>
                  <a:pt x="29676" y="0"/>
                  <a:pt x="31949" y="4983"/>
                  <a:pt x="32546" y="7370"/>
                </a:cubicBezTo>
                <a:cubicBezTo>
                  <a:pt x="33628" y="11699"/>
                  <a:pt x="34042" y="17358"/>
                  <a:pt x="37868" y="19653"/>
                </a:cubicBezTo>
                <a:cubicBezTo>
                  <a:pt x="40373" y="21156"/>
                  <a:pt x="44415" y="17222"/>
                  <a:pt x="44829" y="14330"/>
                </a:cubicBezTo>
              </a:path>
            </a:pathLst>
          </a:custGeom>
          <a:noFill/>
          <a:ln cap="flat" cmpd="sng" w="38100">
            <a:solidFill>
              <a:srgbClr val="8A9A28"/>
            </a:solidFill>
            <a:prstDash val="solid"/>
            <a:round/>
            <a:headEnd len="med" w="med" type="none"/>
            <a:tailEnd len="med" w="med" type="none"/>
          </a:ln>
        </p:spPr>
      </p:sp>
      <p:sp>
        <p:nvSpPr>
          <p:cNvPr id="226" name="Google Shape;226;p13"/>
          <p:cNvSpPr/>
          <p:nvPr/>
        </p:nvSpPr>
        <p:spPr>
          <a:xfrm>
            <a:off x="8033275" y="3863054"/>
            <a:ext cx="1259025" cy="1773450"/>
          </a:xfrm>
          <a:custGeom>
            <a:rect b="b" l="l" r="r" t="t"/>
            <a:pathLst>
              <a:path extrusionOk="0" h="70938" w="50361">
                <a:moveTo>
                  <a:pt x="0" y="67449"/>
                </a:moveTo>
                <a:cubicBezTo>
                  <a:pt x="4812" y="69053"/>
                  <a:pt x="4409" y="58294"/>
                  <a:pt x="6142" y="53528"/>
                </a:cubicBezTo>
                <a:cubicBezTo>
                  <a:pt x="6935" y="51348"/>
                  <a:pt x="11692" y="47843"/>
                  <a:pt x="9417" y="47387"/>
                </a:cubicBezTo>
                <a:cubicBezTo>
                  <a:pt x="5234" y="46549"/>
                  <a:pt x="6789" y="60079"/>
                  <a:pt x="11055" y="60079"/>
                </a:cubicBezTo>
                <a:cubicBezTo>
                  <a:pt x="15152" y="60079"/>
                  <a:pt x="8187" y="45337"/>
                  <a:pt x="11464" y="47796"/>
                </a:cubicBezTo>
                <a:cubicBezTo>
                  <a:pt x="16300" y="51424"/>
                  <a:pt x="18752" y="57862"/>
                  <a:pt x="20063" y="63764"/>
                </a:cubicBezTo>
                <a:cubicBezTo>
                  <a:pt x="20566" y="66029"/>
                  <a:pt x="21993" y="69437"/>
                  <a:pt x="20063" y="70724"/>
                </a:cubicBezTo>
                <a:cubicBezTo>
                  <a:pt x="18778" y="71581"/>
                  <a:pt x="17395" y="68868"/>
                  <a:pt x="16787" y="67449"/>
                </a:cubicBezTo>
                <a:cubicBezTo>
                  <a:pt x="14684" y="62542"/>
                  <a:pt x="15116" y="56801"/>
                  <a:pt x="15559" y="51481"/>
                </a:cubicBezTo>
                <a:cubicBezTo>
                  <a:pt x="15684" y="49979"/>
                  <a:pt x="15968" y="48485"/>
                  <a:pt x="15968" y="46977"/>
                </a:cubicBezTo>
                <a:cubicBezTo>
                  <a:pt x="15968" y="46158"/>
                  <a:pt x="15389" y="43942"/>
                  <a:pt x="15968" y="44521"/>
                </a:cubicBezTo>
                <a:cubicBezTo>
                  <a:pt x="18156" y="46708"/>
                  <a:pt x="19108" y="52232"/>
                  <a:pt x="22110" y="51481"/>
                </a:cubicBezTo>
                <a:cubicBezTo>
                  <a:pt x="25838" y="50548"/>
                  <a:pt x="23774" y="42548"/>
                  <a:pt x="20881" y="40017"/>
                </a:cubicBezTo>
                <a:cubicBezTo>
                  <a:pt x="19450" y="38766"/>
                  <a:pt x="15147" y="40209"/>
                  <a:pt x="15559" y="42064"/>
                </a:cubicBezTo>
                <a:cubicBezTo>
                  <a:pt x="15798" y="43138"/>
                  <a:pt x="16461" y="45748"/>
                  <a:pt x="17197" y="44930"/>
                </a:cubicBezTo>
                <a:cubicBezTo>
                  <a:pt x="18869" y="43073"/>
                  <a:pt x="18946" y="43071"/>
                  <a:pt x="20063" y="40836"/>
                </a:cubicBezTo>
                <a:cubicBezTo>
                  <a:pt x="21440" y="38082"/>
                  <a:pt x="19091" y="31223"/>
                  <a:pt x="22110" y="31828"/>
                </a:cubicBezTo>
                <a:cubicBezTo>
                  <a:pt x="25563" y="32520"/>
                  <a:pt x="25996" y="37721"/>
                  <a:pt x="28251" y="40426"/>
                </a:cubicBezTo>
                <a:cubicBezTo>
                  <a:pt x="31014" y="43741"/>
                  <a:pt x="28473" y="28143"/>
                  <a:pt x="24157" y="28143"/>
                </a:cubicBezTo>
                <a:cubicBezTo>
                  <a:pt x="21176" y="28143"/>
                  <a:pt x="23652" y="36411"/>
                  <a:pt x="26614" y="36741"/>
                </a:cubicBezTo>
                <a:cubicBezTo>
                  <a:pt x="33244" y="37479"/>
                  <a:pt x="30378" y="17925"/>
                  <a:pt x="36849" y="19545"/>
                </a:cubicBezTo>
                <a:cubicBezTo>
                  <a:pt x="37697" y="19757"/>
                  <a:pt x="38619" y="20354"/>
                  <a:pt x="38896" y="21183"/>
                </a:cubicBezTo>
                <a:cubicBezTo>
                  <a:pt x="39379" y="22630"/>
                  <a:pt x="35239" y="20733"/>
                  <a:pt x="34393" y="22002"/>
                </a:cubicBezTo>
                <a:cubicBezTo>
                  <a:pt x="32389" y="25008"/>
                  <a:pt x="33696" y="30296"/>
                  <a:pt x="36440" y="32647"/>
                </a:cubicBezTo>
                <a:cubicBezTo>
                  <a:pt x="38636" y="34529"/>
                  <a:pt x="39594" y="27336"/>
                  <a:pt x="39306" y="24458"/>
                </a:cubicBezTo>
                <a:cubicBezTo>
                  <a:pt x="38818" y="19583"/>
                  <a:pt x="42581" y="15028"/>
                  <a:pt x="42581" y="10128"/>
                </a:cubicBezTo>
                <a:cubicBezTo>
                  <a:pt x="42581" y="6114"/>
                  <a:pt x="39211" y="-1493"/>
                  <a:pt x="35621" y="302"/>
                </a:cubicBezTo>
                <a:cubicBezTo>
                  <a:pt x="33289" y="1468"/>
                  <a:pt x="35826" y="5547"/>
                  <a:pt x="36440" y="8081"/>
                </a:cubicBezTo>
                <a:cubicBezTo>
                  <a:pt x="37736" y="13428"/>
                  <a:pt x="39127" y="22411"/>
                  <a:pt x="44629" y="22411"/>
                </a:cubicBezTo>
                <a:cubicBezTo>
                  <a:pt x="49271" y="22411"/>
                  <a:pt x="50361" y="14361"/>
                  <a:pt x="50361" y="9719"/>
                </a:cubicBezTo>
              </a:path>
            </a:pathLst>
          </a:custGeom>
          <a:noFill/>
          <a:ln cap="flat" cmpd="sng" w="38100">
            <a:solidFill>
              <a:srgbClr val="8A9A28"/>
            </a:solidFill>
            <a:prstDash val="solid"/>
            <a:round/>
            <a:headEnd len="med" w="med" type="none"/>
            <a:tailEnd len="med" w="med" type="none"/>
          </a:ln>
        </p:spPr>
      </p:sp>
      <p:sp>
        <p:nvSpPr>
          <p:cNvPr id="227" name="Google Shape;227;p13"/>
          <p:cNvSpPr/>
          <p:nvPr/>
        </p:nvSpPr>
        <p:spPr>
          <a:xfrm>
            <a:off x="9442422" y="2682451"/>
            <a:ext cx="1031700" cy="1161875"/>
          </a:xfrm>
          <a:custGeom>
            <a:rect b="b" l="l" r="r" t="t"/>
            <a:pathLst>
              <a:path extrusionOk="0" h="46475" w="41268">
                <a:moveTo>
                  <a:pt x="325" y="42805"/>
                </a:moveTo>
                <a:cubicBezTo>
                  <a:pt x="-1583" y="38989"/>
                  <a:pt x="6228" y="30112"/>
                  <a:pt x="1962" y="30112"/>
                </a:cubicBezTo>
                <a:cubicBezTo>
                  <a:pt x="-1132" y="30112"/>
                  <a:pt x="7148" y="33719"/>
                  <a:pt x="8923" y="36254"/>
                </a:cubicBezTo>
                <a:cubicBezTo>
                  <a:pt x="10803" y="38939"/>
                  <a:pt x="10831" y="48398"/>
                  <a:pt x="8513" y="46080"/>
                </a:cubicBezTo>
                <a:cubicBezTo>
                  <a:pt x="4896" y="42463"/>
                  <a:pt x="6395" y="33219"/>
                  <a:pt x="10970" y="30931"/>
                </a:cubicBezTo>
                <a:cubicBezTo>
                  <a:pt x="13045" y="29893"/>
                  <a:pt x="12256" y="35879"/>
                  <a:pt x="14245" y="37073"/>
                </a:cubicBezTo>
                <a:cubicBezTo>
                  <a:pt x="16517" y="38437"/>
                  <a:pt x="19269" y="33120"/>
                  <a:pt x="18749" y="30522"/>
                </a:cubicBezTo>
                <a:cubicBezTo>
                  <a:pt x="18084" y="27198"/>
                  <a:pt x="14230" y="23040"/>
                  <a:pt x="10970" y="23971"/>
                </a:cubicBezTo>
                <a:cubicBezTo>
                  <a:pt x="8895" y="24564"/>
                  <a:pt x="11222" y="31309"/>
                  <a:pt x="13017" y="30112"/>
                </a:cubicBezTo>
                <a:cubicBezTo>
                  <a:pt x="17284" y="27267"/>
                  <a:pt x="18219" y="21140"/>
                  <a:pt x="19568" y="16192"/>
                </a:cubicBezTo>
                <a:cubicBezTo>
                  <a:pt x="19829" y="15233"/>
                  <a:pt x="19444" y="13012"/>
                  <a:pt x="20387" y="13326"/>
                </a:cubicBezTo>
                <a:cubicBezTo>
                  <a:pt x="23296" y="14297"/>
                  <a:pt x="21306" y="19961"/>
                  <a:pt x="23662" y="21924"/>
                </a:cubicBezTo>
                <a:cubicBezTo>
                  <a:pt x="24612" y="22715"/>
                  <a:pt x="26543" y="22452"/>
                  <a:pt x="27347" y="21514"/>
                </a:cubicBezTo>
                <a:cubicBezTo>
                  <a:pt x="30288" y="18084"/>
                  <a:pt x="26106" y="9729"/>
                  <a:pt x="21615" y="9231"/>
                </a:cubicBezTo>
                <a:cubicBezTo>
                  <a:pt x="19041" y="8945"/>
                  <a:pt x="17900" y="14337"/>
                  <a:pt x="19158" y="16601"/>
                </a:cubicBezTo>
                <a:cubicBezTo>
                  <a:pt x="19580" y="17360"/>
                  <a:pt x="19588" y="17487"/>
                  <a:pt x="20387" y="17829"/>
                </a:cubicBezTo>
                <a:cubicBezTo>
                  <a:pt x="23857" y="19315"/>
                  <a:pt x="27415" y="12990"/>
                  <a:pt x="27757" y="9231"/>
                </a:cubicBezTo>
                <a:cubicBezTo>
                  <a:pt x="27784" y="8933"/>
                  <a:pt x="27735" y="5539"/>
                  <a:pt x="27757" y="5546"/>
                </a:cubicBezTo>
                <a:cubicBezTo>
                  <a:pt x="29912" y="6264"/>
                  <a:pt x="29493" y="10110"/>
                  <a:pt x="31441" y="11278"/>
                </a:cubicBezTo>
                <a:cubicBezTo>
                  <a:pt x="32384" y="11844"/>
                  <a:pt x="31773" y="9100"/>
                  <a:pt x="31851" y="8003"/>
                </a:cubicBezTo>
                <a:cubicBezTo>
                  <a:pt x="32038" y="5385"/>
                  <a:pt x="30641" y="1198"/>
                  <a:pt x="33079" y="224"/>
                </a:cubicBezTo>
                <a:cubicBezTo>
                  <a:pt x="35321" y="-672"/>
                  <a:pt x="35833" y="4466"/>
                  <a:pt x="37992" y="5546"/>
                </a:cubicBezTo>
                <a:cubicBezTo>
                  <a:pt x="39373" y="6237"/>
                  <a:pt x="41014" y="3794"/>
                  <a:pt x="41268" y="2271"/>
                </a:cubicBezTo>
              </a:path>
            </a:pathLst>
          </a:custGeom>
          <a:noFill/>
          <a:ln cap="flat" cmpd="sng" w="38100">
            <a:solidFill>
              <a:srgbClr val="8A9A28"/>
            </a:solidFill>
            <a:prstDash val="solid"/>
            <a:round/>
            <a:headEnd len="med" w="med" type="none"/>
            <a:tailEnd len="med" w="med" type="none"/>
          </a:ln>
        </p:spPr>
      </p:sp>
      <p:sp>
        <p:nvSpPr>
          <p:cNvPr id="228" name="Google Shape;228;p13"/>
          <p:cNvSpPr/>
          <p:nvPr/>
        </p:nvSpPr>
        <p:spPr>
          <a:xfrm>
            <a:off x="11367689" y="2703394"/>
            <a:ext cx="61333" cy="312745"/>
          </a:xfrm>
          <a:custGeom>
            <a:rect b="b" l="l" r="r" t="t"/>
            <a:pathLst>
              <a:path extrusionOk="0" h="20881" w="4095">
                <a:moveTo>
                  <a:pt x="4095" y="0"/>
                </a:moveTo>
                <a:cubicBezTo>
                  <a:pt x="1460" y="6585"/>
                  <a:pt x="5015" y="15866"/>
                  <a:pt x="0" y="20881"/>
                </a:cubicBezTo>
              </a:path>
            </a:pathLst>
          </a:custGeom>
          <a:noFill/>
          <a:ln cap="flat" cmpd="sng" w="17125">
            <a:solidFill>
              <a:srgbClr val="8A9A28"/>
            </a:solidFill>
            <a:prstDash val="solid"/>
            <a:round/>
            <a:headEnd len="med" w="med" type="none"/>
            <a:tailEnd len="med" w="med" type="none"/>
          </a:ln>
        </p:spPr>
      </p:sp>
      <p:sp>
        <p:nvSpPr>
          <p:cNvPr id="229" name="Google Shape;229;p13"/>
          <p:cNvSpPr/>
          <p:nvPr/>
        </p:nvSpPr>
        <p:spPr>
          <a:xfrm>
            <a:off x="11312496" y="2795373"/>
            <a:ext cx="208502" cy="67459"/>
          </a:xfrm>
          <a:custGeom>
            <a:rect b="b" l="l" r="r" t="t"/>
            <a:pathLst>
              <a:path extrusionOk="0" h="4504" w="13921">
                <a:moveTo>
                  <a:pt x="0" y="4504"/>
                </a:moveTo>
                <a:cubicBezTo>
                  <a:pt x="1144" y="2599"/>
                  <a:pt x="2692" y="0"/>
                  <a:pt x="4914" y="0"/>
                </a:cubicBezTo>
                <a:cubicBezTo>
                  <a:pt x="7944" y="0"/>
                  <a:pt x="11047" y="2188"/>
                  <a:pt x="13921" y="1228"/>
                </a:cubicBezTo>
              </a:path>
            </a:pathLst>
          </a:custGeom>
          <a:noFill/>
          <a:ln cap="flat" cmpd="sng" w="17125">
            <a:solidFill>
              <a:srgbClr val="8A9A28"/>
            </a:solidFill>
            <a:prstDash val="solid"/>
            <a:round/>
            <a:headEnd len="med" w="med" type="none"/>
            <a:tailEnd len="med" w="med" type="none"/>
          </a:ln>
        </p:spPr>
      </p:sp>
      <p:sp>
        <p:nvSpPr>
          <p:cNvPr id="230" name="Google Shape;230;p13"/>
          <p:cNvSpPr/>
          <p:nvPr/>
        </p:nvSpPr>
        <p:spPr>
          <a:xfrm>
            <a:off x="11572753" y="2467503"/>
            <a:ext cx="27963" cy="284932"/>
          </a:xfrm>
          <a:custGeom>
            <a:rect b="b" l="l" r="r" t="t"/>
            <a:pathLst>
              <a:path extrusionOk="0" h="19024" w="1867">
                <a:moveTo>
                  <a:pt x="1868" y="600"/>
                </a:moveTo>
                <a:cubicBezTo>
                  <a:pt x="-3055" y="-3094"/>
                  <a:pt x="4055" y="13903"/>
                  <a:pt x="640" y="19024"/>
                </a:cubicBezTo>
              </a:path>
            </a:pathLst>
          </a:custGeom>
          <a:noFill/>
          <a:ln cap="flat" cmpd="sng" w="17125">
            <a:solidFill>
              <a:srgbClr val="8A9A28"/>
            </a:solidFill>
            <a:prstDash val="solid"/>
            <a:round/>
            <a:headEnd len="med" w="med" type="none"/>
            <a:tailEnd len="med" w="med" type="none"/>
          </a:ln>
        </p:spPr>
      </p:sp>
      <p:sp>
        <p:nvSpPr>
          <p:cNvPr id="231" name="Google Shape;231;p13"/>
          <p:cNvSpPr/>
          <p:nvPr/>
        </p:nvSpPr>
        <p:spPr>
          <a:xfrm>
            <a:off x="11478075" y="2550080"/>
            <a:ext cx="214643" cy="61318"/>
          </a:xfrm>
          <a:custGeom>
            <a:rect b="b" l="l" r="r" t="t"/>
            <a:pathLst>
              <a:path extrusionOk="0" h="4094" w="14331">
                <a:moveTo>
                  <a:pt x="0" y="4094"/>
                </a:moveTo>
                <a:cubicBezTo>
                  <a:pt x="3104" y="215"/>
                  <a:pt x="10017" y="2465"/>
                  <a:pt x="14331" y="0"/>
                </a:cubicBezTo>
              </a:path>
            </a:pathLst>
          </a:custGeom>
          <a:noFill/>
          <a:ln cap="flat" cmpd="sng" w="17125">
            <a:solidFill>
              <a:srgbClr val="8A9A28"/>
            </a:solidFill>
            <a:prstDash val="solid"/>
            <a:round/>
            <a:headEnd len="med" w="med" type="none"/>
            <a:tailEnd len="med" w="med" type="none"/>
          </a:ln>
        </p:spPr>
      </p:sp>
      <p:sp>
        <p:nvSpPr>
          <p:cNvPr id="232" name="Google Shape;232;p13"/>
          <p:cNvSpPr/>
          <p:nvPr/>
        </p:nvSpPr>
        <p:spPr>
          <a:xfrm>
            <a:off x="10576511" y="1891708"/>
            <a:ext cx="134250" cy="407375"/>
          </a:xfrm>
          <a:custGeom>
            <a:rect b="b" l="l" r="r" t="t"/>
            <a:pathLst>
              <a:path extrusionOk="0" h="16295" w="5370">
                <a:moveTo>
                  <a:pt x="868" y="329"/>
                </a:moveTo>
                <a:cubicBezTo>
                  <a:pt x="539" y="-328"/>
                  <a:pt x="-48" y="1648"/>
                  <a:pt x="49" y="2376"/>
                </a:cubicBezTo>
                <a:cubicBezTo>
                  <a:pt x="706" y="7300"/>
                  <a:pt x="2390" y="12322"/>
                  <a:pt x="5371" y="16296"/>
                </a:cubicBezTo>
              </a:path>
            </a:pathLst>
          </a:custGeom>
          <a:noFill/>
          <a:ln cap="flat" cmpd="sng" w="38100">
            <a:solidFill>
              <a:srgbClr val="8A9A28"/>
            </a:solidFill>
            <a:prstDash val="solid"/>
            <a:round/>
            <a:headEnd len="med" w="med" type="none"/>
            <a:tailEnd len="med" w="med" type="none"/>
          </a:ln>
        </p:spPr>
      </p:sp>
      <p:sp>
        <p:nvSpPr>
          <p:cNvPr id="233" name="Google Shape;233;p13"/>
          <p:cNvSpPr/>
          <p:nvPr/>
        </p:nvSpPr>
        <p:spPr>
          <a:xfrm>
            <a:off x="10735522" y="2467505"/>
            <a:ext cx="100750" cy="107950"/>
          </a:xfrm>
          <a:custGeom>
            <a:rect b="b" l="l" r="r" t="t"/>
            <a:pathLst>
              <a:path extrusionOk="0" h="4318" w="4030">
                <a:moveTo>
                  <a:pt x="2286" y="225"/>
                </a:moveTo>
                <a:cubicBezTo>
                  <a:pt x="1182" y="887"/>
                  <a:pt x="-239" y="2305"/>
                  <a:pt x="239" y="3500"/>
                </a:cubicBezTo>
                <a:cubicBezTo>
                  <a:pt x="720" y="4702"/>
                  <a:pt x="3610" y="3528"/>
                  <a:pt x="3924" y="2272"/>
                </a:cubicBezTo>
                <a:cubicBezTo>
                  <a:pt x="4136" y="1424"/>
                  <a:pt x="3035" y="-225"/>
                  <a:pt x="2286" y="225"/>
                </a:cubicBezTo>
                <a:cubicBezTo>
                  <a:pt x="1026" y="981"/>
                  <a:pt x="1005" y="2893"/>
                  <a:pt x="648" y="4319"/>
                </a:cubicBezTo>
              </a:path>
            </a:pathLst>
          </a:custGeom>
          <a:noFill/>
          <a:ln cap="flat" cmpd="sng" w="38100">
            <a:solidFill>
              <a:srgbClr val="8A9A28"/>
            </a:solidFill>
            <a:prstDash val="solid"/>
            <a:round/>
            <a:headEnd len="med" w="med" type="none"/>
            <a:tailEnd len="med" w="med" type="none"/>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2026-08-28T01:55:37Z</dcterms:created>
  <dc:creator>PptxGenJS</dc:creator>
</cp:coreProperties>
</file>